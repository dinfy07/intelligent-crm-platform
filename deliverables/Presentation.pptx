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9394b64cb84182" /><Relationship Type="http://schemas.openxmlformats.org/officeDocument/2006/relationships/extended-properties" Target="/docProps/app.xml" Id="Rcdaf3c683023452c" /><Relationship Type="http://schemas.openxmlformats.org/officeDocument/2006/relationships/officeDocument" Target="/ppt/presentation.xml" Id="R7a85c10b699e46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7f591541db48b2"/>
  </p:sldMasterIdLst>
  <p:notesMasterIdLst>
    <p:notesMasterId xmlns:r="http://schemas.openxmlformats.org/officeDocument/2006/relationships" r:id="Rf7099b09a0044538"/>
  </p:notesMasterIdLst>
  <p:sldIdLst>
    <p:sldId xmlns:r="http://schemas.openxmlformats.org/officeDocument/2006/relationships" id="256" r:id="R46bfb79875cf410d"/>
    <p:sldId xmlns:r="http://schemas.openxmlformats.org/officeDocument/2006/relationships" id="257" r:id="Rcb64482a1feb4cba"/>
    <p:sldId xmlns:r="http://schemas.openxmlformats.org/officeDocument/2006/relationships" id="258" r:id="Rcc45df565270445a"/>
    <p:sldId xmlns:r="http://schemas.openxmlformats.org/officeDocument/2006/relationships" id="259" r:id="R77cd1b99e8994f56"/>
    <p:sldId xmlns:r="http://schemas.openxmlformats.org/officeDocument/2006/relationships" id="260" r:id="R17e09eeb8e334439"/>
    <p:sldId xmlns:r="http://schemas.openxmlformats.org/officeDocument/2006/relationships" id="261" r:id="R7827028299c2412b"/>
    <p:sldId xmlns:r="http://schemas.openxmlformats.org/officeDocument/2006/relationships" id="262" r:id="R05c9ff841acd45f5"/>
    <p:sldId xmlns:r="http://schemas.openxmlformats.org/officeDocument/2006/relationships" id="263" r:id="Rd2582579e6ce4840"/>
    <p:sldId xmlns:r="http://schemas.openxmlformats.org/officeDocument/2006/relationships" id="264" r:id="R003eda73f6aa4128"/>
    <p:sldId xmlns:r="http://schemas.openxmlformats.org/officeDocument/2006/relationships" id="265" r:id="R2b03f16e61044738"/>
    <p:sldId xmlns:r="http://schemas.openxmlformats.org/officeDocument/2006/relationships" id="266" r:id="Rcd0d20b5c45f4c0d"/>
    <p:sldId xmlns:r="http://schemas.openxmlformats.org/officeDocument/2006/relationships" id="267" r:id="R646470983b2e43ab"/>
    <p:sldId xmlns:r="http://schemas.openxmlformats.org/officeDocument/2006/relationships" id="268" r:id="R7847de52ebc54d74"/>
    <p:sldId xmlns:r="http://schemas.openxmlformats.org/officeDocument/2006/relationships" id="269" r:id="Rb22c7d4c210d408a"/>
    <p:sldId xmlns:r="http://schemas.openxmlformats.org/officeDocument/2006/relationships" id="270" r:id="R7c3ec4c667394f14"/>
    <p:sldId xmlns:r="http://schemas.openxmlformats.org/officeDocument/2006/relationships" id="271" r:id="Rbb0bcb711dc84e97"/>
    <p:sldId xmlns:r="http://schemas.openxmlformats.org/officeDocument/2006/relationships" id="272" r:id="Rbf94a6baeee54c93"/>
    <p:sldId xmlns:r="http://schemas.openxmlformats.org/officeDocument/2006/relationships" id="273" r:id="Rfca5fe579fa0469c"/>
    <p:sldId xmlns:r="http://schemas.openxmlformats.org/officeDocument/2006/relationships" id="274" r:id="R145ae42798b94078"/>
    <p:sldId xmlns:r="http://schemas.openxmlformats.org/officeDocument/2006/relationships" id="275" r:id="R8107621dc3ff451c"/>
    <p:sldId xmlns:r="http://schemas.openxmlformats.org/officeDocument/2006/relationships" id="276" r:id="Ra39ff545b2e74b3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0532b288584bf5" /><Relationship Type="http://schemas.openxmlformats.org/officeDocument/2006/relationships/slideMaster" Target="/ppt/slideMasters/slideMaster1.xml" Id="R247f591541db48b2" /><Relationship Type="http://schemas.openxmlformats.org/officeDocument/2006/relationships/notesMaster" Target="/ppt/notesMasters/notesMaster1.xml" Id="Rf7099b09a0044538" /><Relationship Type="http://schemas.openxmlformats.org/officeDocument/2006/relationships/presProps" Target="/ppt/presProps.xml" Id="R967ada54613e44ee" /><Relationship Type="http://schemas.openxmlformats.org/officeDocument/2006/relationships/tableStyles" Target="/ppt/tableStyles.xml" Id="R91d64ebf278941ba" /><Relationship Type="http://schemas.openxmlformats.org/officeDocument/2006/relationships/slide" Target="/ppt/slides/slide1.xml" Id="R46bfb79875cf410d" /><Relationship Type="http://schemas.openxmlformats.org/officeDocument/2006/relationships/slide" Target="/ppt/slides/slide2.xml" Id="Rcb64482a1feb4cba" /><Relationship Type="http://schemas.openxmlformats.org/officeDocument/2006/relationships/slide" Target="/ppt/slides/slide3.xml" Id="Rcc45df565270445a" /><Relationship Type="http://schemas.openxmlformats.org/officeDocument/2006/relationships/slide" Target="/ppt/slides/slide4.xml" Id="R77cd1b99e8994f56" /><Relationship Type="http://schemas.openxmlformats.org/officeDocument/2006/relationships/slide" Target="/ppt/slides/slide5.xml" Id="R17e09eeb8e334439" /><Relationship Type="http://schemas.openxmlformats.org/officeDocument/2006/relationships/slide" Target="/ppt/slides/slide6.xml" Id="R7827028299c2412b" /><Relationship Type="http://schemas.openxmlformats.org/officeDocument/2006/relationships/slide" Target="/ppt/slides/slide7.xml" Id="R05c9ff841acd45f5" /><Relationship Type="http://schemas.openxmlformats.org/officeDocument/2006/relationships/slide" Target="/ppt/slides/slide8.xml" Id="Rd2582579e6ce4840" /><Relationship Type="http://schemas.openxmlformats.org/officeDocument/2006/relationships/slide" Target="/ppt/slides/slide9.xml" Id="R003eda73f6aa4128" /><Relationship Type="http://schemas.openxmlformats.org/officeDocument/2006/relationships/slide" Target="/ppt/slides/slide10.xml" Id="R2b03f16e61044738" /><Relationship Type="http://schemas.openxmlformats.org/officeDocument/2006/relationships/slide" Target="/ppt/slides/slide11.xml" Id="Rcd0d20b5c45f4c0d" /><Relationship Type="http://schemas.openxmlformats.org/officeDocument/2006/relationships/slide" Target="/ppt/slides/slide12.xml" Id="R646470983b2e43ab" /><Relationship Type="http://schemas.openxmlformats.org/officeDocument/2006/relationships/slide" Target="/ppt/slides/slide13.xml" Id="R7847de52ebc54d74" /><Relationship Type="http://schemas.openxmlformats.org/officeDocument/2006/relationships/slide" Target="/ppt/slides/slide14.xml" Id="Rb22c7d4c210d408a" /><Relationship Type="http://schemas.openxmlformats.org/officeDocument/2006/relationships/slide" Target="/ppt/slides/slide15.xml" Id="R7c3ec4c667394f14" /><Relationship Type="http://schemas.openxmlformats.org/officeDocument/2006/relationships/slide" Target="/ppt/slides/slide16.xml" Id="Rbb0bcb711dc84e97" /><Relationship Type="http://schemas.openxmlformats.org/officeDocument/2006/relationships/slide" Target="/ppt/slides/slide17.xml" Id="Rbf94a6baeee54c93" /><Relationship Type="http://schemas.openxmlformats.org/officeDocument/2006/relationships/slide" Target="/ppt/slides/slide18.xml" Id="Rfca5fe579fa0469c" /><Relationship Type="http://schemas.openxmlformats.org/officeDocument/2006/relationships/slide" Target="/ppt/slides/slide19.xml" Id="R145ae42798b94078" /><Relationship Type="http://schemas.openxmlformats.org/officeDocument/2006/relationships/slide" Target="/ppt/slides/slide20.xml" Id="R8107621dc3ff451c" /><Relationship Type="http://schemas.openxmlformats.org/officeDocument/2006/relationships/slide" Target="/ppt/slides/slide21.xml" Id="Ra39ff545b2e7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78cfe414264b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RM">
  <a:themeElements>
    <a:clrScheme name="CR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R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159796595142b9" /><Relationship Type="http://schemas.openxmlformats.org/officeDocument/2006/relationships/notesMaster" Target="/ppt/notesMasters/notesMaster1.xml" Id="R11d5a942967847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d0d8d5af21497f" /><Relationship Type="http://schemas.openxmlformats.org/officeDocument/2006/relationships/notesMaster" Target="/ppt/notesMasters/notesMaster1.xml" Id="Rb5f8ed18864e4b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34e8ce583242d4" /><Relationship Type="http://schemas.openxmlformats.org/officeDocument/2006/relationships/notesMaster" Target="/ppt/notesMasters/notesMaster1.xml" Id="Ra9df380c21844b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aeccc93e104ee7" /><Relationship Type="http://schemas.openxmlformats.org/officeDocument/2006/relationships/notesMaster" Target="/ppt/notesMasters/notesMaster1.xml" Id="R07cc7ef3da1b48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097ce00401437d" /><Relationship Type="http://schemas.openxmlformats.org/officeDocument/2006/relationships/notesMaster" Target="/ppt/notesMasters/notesMaster1.xml" Id="R1a50f7520e3548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c59577026f4934" /><Relationship Type="http://schemas.openxmlformats.org/officeDocument/2006/relationships/notesMaster" Target="/ppt/notesMasters/notesMaster1.xml" Id="R1b479bd68c2448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62d220a70c4f57" /><Relationship Type="http://schemas.openxmlformats.org/officeDocument/2006/relationships/notesMaster" Target="/ppt/notesMasters/notesMaster1.xml" Id="Rc08a79f3564248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7c29cf9ae14c6b" /><Relationship Type="http://schemas.openxmlformats.org/officeDocument/2006/relationships/notesMaster" Target="/ppt/notesMasters/notesMaster1.xml" Id="Re0968e2f4fa343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c5ffff11d1424e" /><Relationship Type="http://schemas.openxmlformats.org/officeDocument/2006/relationships/notesMaster" Target="/ppt/notesMasters/notesMaster1.xml" Id="Re7bff7b9c22c4f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1560faa19d4708" /><Relationship Type="http://schemas.openxmlformats.org/officeDocument/2006/relationships/notesMaster" Target="/ppt/notesMasters/notesMaster1.xml" Id="R63dfecdc03be4d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b86b40f40644a2" /><Relationship Type="http://schemas.openxmlformats.org/officeDocument/2006/relationships/notesMaster" Target="/ppt/notesMasters/notesMaster1.xml" Id="Rf2d0c9cac0d74c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58e9b0cfc94697" /><Relationship Type="http://schemas.openxmlformats.org/officeDocument/2006/relationships/notesMaster" Target="/ppt/notesMasters/notesMaster1.xml" Id="Rabbd651d0e9946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8b620a83e441e5" /><Relationship Type="http://schemas.openxmlformats.org/officeDocument/2006/relationships/notesMaster" Target="/ppt/notesMasters/notesMaster1.xml" Id="R9db44df7544d47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44585e00e74d74" /><Relationship Type="http://schemas.openxmlformats.org/officeDocument/2006/relationships/notesMaster" Target="/ppt/notesMasters/notesMaster1.xml" Id="Re249efd25eb949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56ac47e6db42b9" /><Relationship Type="http://schemas.openxmlformats.org/officeDocument/2006/relationships/notesMaster" Target="/ppt/notesMasters/notesMaster1.xml" Id="R33a6ef6f62014b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80055e8f664f8d" /><Relationship Type="http://schemas.openxmlformats.org/officeDocument/2006/relationships/notesMaster" Target="/ppt/notesMasters/notesMaster1.xml" Id="R619a06b1ca984b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0ea45e7fbb409f" /><Relationship Type="http://schemas.openxmlformats.org/officeDocument/2006/relationships/notesMaster" Target="/ppt/notesMasters/notesMaster1.xml" Id="R1130f08a5aa442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426b92f9804edc" /><Relationship Type="http://schemas.openxmlformats.org/officeDocument/2006/relationships/notesMaster" Target="/ppt/notesMasters/notesMaster1.xml" Id="R49361e680f9e46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d93ebe183f4e39" /><Relationship Type="http://schemas.openxmlformats.org/officeDocument/2006/relationships/notesMaster" Target="/ppt/notesMasters/notesMaster1.xml" Id="Rad23fda583e14f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10c3edf1924be1" /><Relationship Type="http://schemas.openxmlformats.org/officeDocument/2006/relationships/notesMaster" Target="/ppt/notesMasters/notesMaster1.xml" Id="Rfe0a8ee6c0df483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165595b9284978" /><Relationship Type="http://schemas.openxmlformats.org/officeDocument/2006/relationships/notesMaster" Target="/ppt/notesMasters/notesMaster1.xml" Id="R57c4db0b2f13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https://aclanthology.org/2021.findings-acl.449/</a:t>
            </a:r>
          </a:p>
          <a:p xmlns:a="http://schemas.openxmlformats.org/drawingml/2006/main">
            <a:r>
              <a:t>https://aclanthology.org/2021.naacl-main.472/</a:t>
            </a:r>
          </a:p>
          <a:p xmlns:a="http://schemas.openxmlformats.org/drawingml/2006/main">
            <a:r>
              <a:t>https://aclanthology.org/2022.naacl-main.418/</a:t>
            </a:r>
          </a:p>
          <a:p xmlns:a="http://schemas.openxmlformats.org/drawingml/2006/main">
            <a:r>
              <a:t>https://aclanthology.org/2022.emnlp-main.325/</a:t>
            </a:r>
          </a:p>
          <a:p xmlns:a="http://schemas.openxmlformats.org/drawingml/2006/main">
            <a:r>
              <a:t>https://aclanthology.org/2022.tacl-1.10/</a:t>
            </a:r>
          </a:p>
          <a:p xmlns:a="http://schemas.openxmlformats.org/drawingml/2006/main">
            <a:r>
              <a:t>https://aclanthology.org/2023.acl-long.377/</a:t>
            </a:r>
          </a:p>
          <a:p xmlns:a="http://schemas.openxmlformats.org/drawingml/2006/main">
            <a:r>
              <a:t>https://arxiv.org/abs/2306.07941</a:t>
            </a:r>
          </a:p>
          <a:p xmlns:a="http://schemas.openxmlformats.org/drawingml/2006/main">
            <a:r>
              <a:t>https://aclanthology.org/2024.naacl-long.338/</a:t>
            </a:r>
          </a:p>
          <a:p xmlns:a="http://schemas.openxmlformats.org/drawingml/2006/main">
            <a:r>
              <a:t>https://aclanthology.org/2024.acl-long.51/</a:t>
            </a:r>
          </a:p>
          <a:p xmlns:a="http://schemas.openxmlformats.org/drawingml/2006/main">
            <a:r>
              <a:t>https://aclanthology.org/2025.coling-main.302/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https://aclanthology.org/2021.naacl-main.472/</a:t>
            </a:r>
          </a:p>
          <a:p xmlns:a="http://schemas.openxmlformats.org/drawingml/2006/main">
            <a:r>
              <a:t>https://aclanthology.org/2022.naacl-main.418/</a:t>
            </a:r>
          </a:p>
          <a:p xmlns:a="http://schemas.openxmlformats.org/drawingml/2006/main">
            <a:r>
              <a:t>https://aclanthology.org/2022.emnlp-main.325/</a:t>
            </a:r>
          </a:p>
          <a:p xmlns:a="http://schemas.openxmlformats.org/drawingml/2006/main">
            <a:r>
              <a:t>https://aclanthology.org/2023.acl-long.377/</a:t>
            </a:r>
          </a:p>
          <a:p xmlns:a="http://schemas.openxmlformats.org/drawingml/2006/main">
            <a:r>
              <a:t>https://aclanthology.org/2024.acl-long.51/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https://knowledge.hubspot.com/calling/review-call-recordings-and-transcripts</a:t>
            </a:r>
          </a:p>
          <a:p xmlns:a="http://schemas.openxmlformats.org/drawingml/2006/main">
            <a:r>
              <a:t>https://help.salesforce.com/s/articleView?id=sf.eci_call_summaries.htm&amp;language=en_US</a:t>
            </a:r>
          </a:p>
          <a:p xmlns:a="http://schemas.openxmlformats.org/drawingml/2006/main">
            <a:r>
              <a:t>https://help.zoho.com/portal/en/kb/crm/zia-artificial-intelligence/communication/zia-for-calls/articles/zia-call-intelligence</a:t>
            </a:r>
          </a:p>
          <a:p xmlns:a="http://schemas.openxmlformats.org/drawingml/2006/main">
            <a:r>
              <a:t>https://learn.microsoft.com/en-us/dynamics365/sales/view-and-understand-call-summary</a:t>
            </a:r>
          </a:p>
          <a:p xmlns:a="http://schemas.openxmlformats.org/drawingml/2006/main">
            <a:r>
              <a:t>https://learn.microsoft.com/en-us/dynamics365/sales/configure-keywords-competitors-sales-app</a:t>
            </a:r>
          </a:p>
          <a:p xmlns:a="http://schemas.openxmlformats.org/drawingml/2006/main">
            <a:r>
              <a:t>https://learn.microsoft.com/en-us/dynamics365/sales/language-support-conversation-intelligence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https://knowledge.hubspot.com/calling/review-call-recordings-and-transcripts</a:t>
            </a:r>
          </a:p>
          <a:p xmlns:a="http://schemas.openxmlformats.org/drawingml/2006/main">
            <a:r>
              <a:t>https://help.salesforce.com/s/articleView?id=sf.eci_call_summaries.htm&amp;language=en_US</a:t>
            </a:r>
          </a:p>
          <a:p xmlns:a="http://schemas.openxmlformats.org/drawingml/2006/main">
            <a:r>
              <a:t>https://help.zoho.com/portal/en/kb/crm/zia-artificial-intelligence/communication/zia-for-calls/articles/zia-call-intelligence</a:t>
            </a:r>
          </a:p>
          <a:p xmlns:a="http://schemas.openxmlformats.org/drawingml/2006/main">
            <a:r>
              <a:t>https://learn.microsoft.com/en-us/dynamics365/sales/view-and-understand-call-summary</a:t>
            </a:r>
          </a:p>
          <a:p xmlns:a="http://schemas.openxmlformats.org/drawingml/2006/main">
            <a:r>
              <a:t>https://learn.microsoft.com/en-us/dynamics365/sales/configure-keywords-competitors-sales-app</a:t>
            </a:r>
          </a:p>
          <a:p xmlns:a="http://schemas.openxmlformats.org/drawingml/2006/main">
            <a:r>
              <a:t>https://learn.microsoft.com/en-us/dynamics365/sales/language-support-conversation-intelligence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https://vuejs.org/guide/introduction.html</a:t>
            </a:r>
          </a:p>
          <a:p xmlns:a="http://schemas.openxmlformats.org/drawingml/2006/main">
            <a:r>
              <a:t>https://react.dev/learn</a:t>
            </a:r>
          </a:p>
          <a:p xmlns:a="http://schemas.openxmlformats.org/drawingml/2006/main">
            <a:r>
              <a:t>https://angular.dev/overview</a:t>
            </a:r>
          </a:p>
          <a:p xmlns:a="http://schemas.openxmlformats.org/drawingml/2006/main">
            <a:r>
              <a:t>https://fastapi.tiangolo.com/features/</a:t>
            </a:r>
          </a:p>
          <a:p xmlns:a="http://schemas.openxmlformats.org/drawingml/2006/main">
            <a:r>
              <a:t>https://docs.nestjs.com/openapi/introduction</a:t>
            </a:r>
          </a:p>
          <a:p xmlns:a="http://schemas.openxmlformats.org/drawingml/2006/main">
            <a:r>
              <a:t>https://docs.djangoproject.com/en/5.2/intro/overview/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https://www.mongodb.com/docs/manual/core/transactions/</a:t>
            </a:r>
          </a:p>
          <a:p xmlns:a="http://schemas.openxmlformats.org/drawingml/2006/main">
            <a:r>
              <a:t>https://sqlite.org/whentouse.html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https://www.rabbitmq.com/tutorials/tutorial-one-python</a:t>
            </a:r>
          </a:p>
          <a:p xmlns:a="http://schemas.openxmlformats.org/drawingml/2006/main">
            <a:r>
              <a:t>https://scikit-learn.org/stable/modules/generated/sklearn.feature_extraction.text.TfidfVectorizer.html</a:t>
            </a:r>
          </a:p>
          <a:p xmlns:a="http://schemas.openxmlformats.org/drawingml/2006/main">
            <a:r>
              <a:t>https://huggingface.co/docs/transformers/main_classes/pipelines</a:t>
            </a:r>
          </a:p>
          <a:p xmlns:a="http://schemas.openxmlformats.org/drawingml/2006/main">
            <a:r>
              <a:t>https://www.rfc-editor.org/rfc/rfc9110.html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https://aclanthology.org/2021.findings-acl.449/</a:t>
            </a:r>
          </a:p>
          <a:p xmlns:a="http://schemas.openxmlformats.org/drawingml/2006/main">
            <a:r>
              <a:t>https://aclanthology.org/2021.naacl-main.472/</a:t>
            </a:r>
          </a:p>
          <a:p xmlns:a="http://schemas.openxmlformats.org/drawingml/2006/main">
            <a:r>
              <a:t>https://aclanthology.org/2022.naacl-main.418/</a:t>
            </a:r>
          </a:p>
          <a:p xmlns:a="http://schemas.openxmlformats.org/drawingml/2006/main">
            <a:r>
              <a:t>https://aclanthology.org/2022.emnlp-main.325/</a:t>
            </a:r>
          </a:p>
          <a:p xmlns:a="http://schemas.openxmlformats.org/drawingml/2006/main">
            <a:r>
              <a:t>https://aclanthology.org/2022.tacl-1.10/</a:t>
            </a:r>
          </a:p>
          <a:p xmlns:a="http://schemas.openxmlformats.org/drawingml/2006/main">
            <a:r>
              <a:t>https://aclanthology.org/2023.acl-long.377/</a:t>
            </a:r>
          </a:p>
          <a:p xmlns:a="http://schemas.openxmlformats.org/drawingml/2006/main">
            <a:r>
              <a:t>https://arxiv.org/abs/2306.07941</a:t>
            </a:r>
          </a:p>
          <a:p xmlns:a="http://schemas.openxmlformats.org/drawingml/2006/main">
            <a:r>
              <a:t>https://aclanthology.org/2024.naacl-long.338/</a:t>
            </a:r>
          </a:p>
          <a:p xmlns:a="http://schemas.openxmlformats.org/drawingml/2006/main">
            <a:r>
              <a:t>https://aclanthology.org/2024.acl-long.51/</a:t>
            </a:r>
          </a:p>
          <a:p xmlns:a="http://schemas.openxmlformats.org/drawingml/2006/main">
            <a:r>
              <a:t>https://aclanthology.org/2025.coling-main.302/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05ef253754b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78674dc4245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f53122a0f4f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620d224b047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f038258064e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cb433553845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B88056-53FD-4384-AFD3-A6DC272B9A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33DF66-3730-411C-88C7-130A49A578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E737A7-9A5B-41B0-A7CE-09C286ACF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926689-5F99-4ACE-823D-224EAE3D9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50A0B4-4D29-43E5-ACF8-81DB0A6002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D92AAC-0517-4138-8A02-F64776CD2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B234FB-5ECF-49C8-95CD-6E017081B8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8F09F6-813F-4FB0-8DDF-3EAAC93FE6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CD16E3-299F-48FC-946B-55108CA79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B0FDA2-C764-4140-A138-04E49679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db6eabf34843c9" /><Relationship Type="http://schemas.openxmlformats.org/officeDocument/2006/relationships/slideLayout" Target="/ppt/slideLayouts/slideLayout1.xml" Id="R4d056f6ec9294836" /><Relationship Type="http://schemas.openxmlformats.org/officeDocument/2006/relationships/slideLayout" Target="/ppt/slideLayouts/slideLayout2.xml" Id="R494078f57c414e92" /><Relationship Type="http://schemas.openxmlformats.org/officeDocument/2006/relationships/slideLayout" Target="/ppt/slideLayouts/slideLayout3.xml" Id="Re40ea41019ca43eb" /><Relationship Type="http://schemas.openxmlformats.org/officeDocument/2006/relationships/slideLayout" Target="/ppt/slideLayouts/slideLayout4.xml" Id="Rcc6e1ef552d14aea" /><Relationship Type="http://schemas.openxmlformats.org/officeDocument/2006/relationships/slideLayout" Target="/ppt/slideLayouts/slideLayout5.xml" Id="R173dca8ad4704064" /><Relationship Type="http://schemas.openxmlformats.org/officeDocument/2006/relationships/slideLayout" Target="/ppt/slideLayouts/slideLayout6.xml" Id="R8f28ba505c0744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056f6ec9294836"/>
    <p:sldLayoutId xmlns:r="http://schemas.openxmlformats.org/officeDocument/2006/relationships" id="2147483650" r:id="R494078f57c414e92"/>
    <p:sldLayoutId xmlns:r="http://schemas.openxmlformats.org/officeDocument/2006/relationships" id="2147483651" r:id="Re40ea41019ca43eb"/>
    <p:sldLayoutId xmlns:r="http://schemas.openxmlformats.org/officeDocument/2006/relationships" id="2147483652" r:id="Rcc6e1ef552d14aea"/>
    <p:sldLayoutId xmlns:r="http://schemas.openxmlformats.org/officeDocument/2006/relationships" id="2147483653" r:id="R173dca8ad4704064"/>
    <p:sldLayoutId xmlns:r="http://schemas.openxmlformats.org/officeDocument/2006/relationships" id="2147483654" r:id="R8f28ba505c0744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RM">
  <a:themeElements>
    <a:clrScheme name="CR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R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8366925b441c9" /><Relationship Type="http://schemas.openxmlformats.org/officeDocument/2006/relationships/notesSlide" Target="/ppt/notesSlides/notesSlide1.xml" Id="Raf928a43b8f645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8b5d5a35344679" /><Relationship Type="http://schemas.openxmlformats.org/officeDocument/2006/relationships/notesSlide" Target="/ppt/notesSlides/notesSlide2.xml" Id="R49ec8c451a20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bf923d79d4f23" /><Relationship Type="http://schemas.openxmlformats.org/officeDocument/2006/relationships/notesSlide" Target="/ppt/notesSlides/notesSlide3.xml" Id="R332649a41c314c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238eb06aa4654" /><Relationship Type="http://schemas.openxmlformats.org/officeDocument/2006/relationships/notesSlide" Target="/ppt/notesSlides/notesSlide4.xml" Id="Re4abb9ea30af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4fc951df04bd9" /><Relationship Type="http://schemas.openxmlformats.org/officeDocument/2006/relationships/notesSlide" Target="/ppt/notesSlides/notesSlide5.xml" Id="R167804a9032247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e613403b14b69" /><Relationship Type="http://schemas.openxmlformats.org/officeDocument/2006/relationships/notesSlide" Target="/ppt/notesSlides/notesSlide6.xml" Id="Ra92fcb0c19b84e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d375dc57d4bed" /><Relationship Type="http://schemas.openxmlformats.org/officeDocument/2006/relationships/notesSlide" Target="/ppt/notesSlides/notesSlide7.xml" Id="R247cc6388e4b4f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51517750f4956" /><Relationship Type="http://schemas.openxmlformats.org/officeDocument/2006/relationships/notesSlide" Target="/ppt/notesSlides/notesSlide8.xml" Id="R69d29408787144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5d3b94b22849f9" /><Relationship Type="http://schemas.openxmlformats.org/officeDocument/2006/relationships/notesSlide" Target="/ppt/notesSlides/notesSlide9.xml" Id="R1764187b57ed41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158b7255b4cd4" /><Relationship Type="http://schemas.openxmlformats.org/officeDocument/2006/relationships/notesSlide" Target="/ppt/notesSlides/notesSlide10.xml" Id="Rf809e8308e8d42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97b7e3f01422f" /><Relationship Type="http://schemas.openxmlformats.org/officeDocument/2006/relationships/notesSlide" Target="/ppt/notesSlides/notesSlide11.xml" Id="R2aba40a8dfa945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8a6e6ea2a4557" /><Relationship Type="http://schemas.openxmlformats.org/officeDocument/2006/relationships/notesSlide" Target="/ppt/notesSlides/notesSlide12.xml" Id="Re329180ee4a844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8b457d4e84dfd" /><Relationship Type="http://schemas.openxmlformats.org/officeDocument/2006/relationships/notesSlide" Target="/ppt/notesSlides/notesSlide13.xml" Id="R83d6de99106245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490a1a2a74f18" /><Relationship Type="http://schemas.openxmlformats.org/officeDocument/2006/relationships/notesSlide" Target="/ppt/notesSlides/notesSlide14.xml" Id="R18aec4823d9d4b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cf1f2ba8b4cbd" /><Relationship Type="http://schemas.openxmlformats.org/officeDocument/2006/relationships/notesSlide" Target="/ppt/notesSlides/notesSlide15.xml" Id="Rca12484473384e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039aad2e146cd" /><Relationship Type="http://schemas.openxmlformats.org/officeDocument/2006/relationships/image" Target="/ppt/media/image.png" Id="R0f5b7f85b795481b" /><Relationship Type="http://schemas.openxmlformats.org/officeDocument/2006/relationships/notesSlide" Target="/ppt/notesSlides/notesSlide16.xml" Id="Rd17ce76b05b049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2a03e86a54203" /><Relationship Type="http://schemas.openxmlformats.org/officeDocument/2006/relationships/notesSlide" Target="/ppt/notesSlides/notesSlide17.xml" Id="R4ae5a44bd1bf42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8ebb9aa4c451a" /><Relationship Type="http://schemas.openxmlformats.org/officeDocument/2006/relationships/notesSlide" Target="/ppt/notesSlides/notesSlide18.xml" Id="R77ae4e3092504c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2d9bb5178420e" /><Relationship Type="http://schemas.openxmlformats.org/officeDocument/2006/relationships/notesSlide" Target="/ppt/notesSlides/notesSlide19.xml" Id="R0d974e59069040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77e1fe78a4e6e" /><Relationship Type="http://schemas.openxmlformats.org/officeDocument/2006/relationships/notesSlide" Target="/ppt/notesSlides/notesSlide20.xml" Id="Rd80b7d33764645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baa695c214530" /><Relationship Type="http://schemas.openxmlformats.org/officeDocument/2006/relationships/notesSlide" Target="/ppt/notesSlides/notesSlide21.xml" Id="R08a8cecaea734b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BE822-A3D7-4131-83FD-A5B5F435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PRE-DEFENSE 1  /  24 OCTOBER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EA3AB-A3FB-4C6B-B96C-657AD9C8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Development of an Intelligent CRM Platform</a:t>
            </a:r>
          </a:p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with Automated Customer Interaction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80A79-E44E-46D8-BCB9-FD6B3E4C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3B111-2FD9-4687-9794-8816F526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10223-9BA8-41AD-B69C-0A356FD7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B5D36-D923-45C2-92F7-BCFFDEC4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Yeshimkul Beybit  ·  Shaikenov Danial  ·  Saken Akhmediyar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31826-601C-4CF9-B885-2EF2346F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238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Software Engineering  /  SE-2426</a:t>
            </a:r>
          </a:p>
          <a:p xmlns:a="http://schemas.openxmlformats.org/drawingml/2006/main">
            <a: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Supervisor: Arailym Orazova</a:t>
            </a:r>
          </a:p>
          <a:p xmlns:a="http://schemas.openxmlformats.org/drawingml/2006/main">
            <a: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Astana IT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74DB1-DBAB-4E88-8C1A-7AC251F3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F46E5"/>
                </a:solidFill>
                <a:latin typeface="Arial"/>
                <a:ea typeface="Arial"/>
                <a:cs typeface="Arial"/>
              </a:rPr>
              <a:t>First pre-defense</a:t>
            </a:r>
          </a:p>
          <a:p xmlns:a="http://schemas.openxmlformats.org/drawingml/2006/main">
            <a: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F46E5"/>
                </a:solidFill>
                <a:latin typeface="Arial"/>
                <a:ea typeface="Arial"/>
                <a:cs typeface="Arial"/>
              </a:rPr>
              <a:t>24 October 2026</a:t>
            </a:r>
          </a:p>
        </p:txBody>
      </p:sp>
    </p:spTree>
    <p:extLst>
      <p:ext uri="{BB962C8B-B14F-4D97-AF65-F5344CB8AC3E}">
        <p14:creationId xmlns:p14="http://schemas.microsoft.com/office/powerpoint/2010/main" val="418639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8227E-2662-4427-9497-B6C9A717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PROBLEM AND TARGET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F9E7A-7A5C-4086-8F78-3938FEED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The proposed problem needs user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384D7-8830-4375-97BC-EC470FAB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A5AD5-09F2-4B95-B414-E48D5B1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43101-99A1-4F66-9FAC-DC74D4E1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8B6AD-EE04-4DE2-B389-463B94D1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Target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6C52F-C2B3-4DE1-9BE9-C89540FC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Sales or support specialists, their manager and an organisation administrator.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E9E0C-BCE0-45A4-B4DA-1B324090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Workflow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33715-EF3C-406D-B3C7-21E84B48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Reading interaction histories and preparing CRM notes may take avoidable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CD4C7-855F-4E67-99A3-844BE6C6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0932F-8AF3-4093-9C5C-008A7871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Can source-linked automated analysis reduce review time while preserving factual accuracy?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6F9CA-B59B-4DD7-921F-7D7336CF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Evidence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26034-82E8-4211-838E-7769F2A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No client agreement or user interviews supplied. Discovery is a checkpoint dependency.</a:t>
            </a:r>
          </a:p>
        </p:txBody>
      </p:sp>
    </p:spTree>
    <p:extLst>
      <p:ext uri="{BB962C8B-B14F-4D97-AF65-F5344CB8AC3E}">
        <p14:creationId xmlns:p14="http://schemas.microsoft.com/office/powerpoint/2010/main" val="799601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7D382-9444-43AC-8234-71F058B1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AIM, SCOPE AND EXPECTED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F898E-5715-490A-BA6C-FA947E05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 bounded text-analysis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349FB-043D-4A80-8DC0-E20E31B6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123F6-E361-4295-B6B2-A7BEE378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BC72E-F35D-4FAF-947D-2BDCE3F8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2102B-4A6E-448C-A002-B09EB988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9C890-85E2-4EC1-A805-E62FA5F6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Develop and evaluate a CRM workflow for analysing customer interaction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472E7-76FC-4893-BFE6-48428D0B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Mandatory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5BA61-496C-4FC8-A595-DFDCD737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Customer records, ordered text turns, topics, source-linked summaries and human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F1626-A875-47D0-9FA4-C4CAA2A0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Expected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9CD60-C50A-4BB0-84EB-F41FD2C9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 modular prototype, reproducible comparison and documented limitations.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3870B-CC1B-490F-8FA2-45F4D39A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Scope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9CD14-2F3A-4697-8843-C7315949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One organisation and English evaluation first. Voice transcription and automatic replies excluded.</a:t>
            </a:r>
          </a:p>
        </p:txBody>
      </p:sp>
    </p:spTree>
    <p:extLst>
      <p:ext uri="{BB962C8B-B14F-4D97-AF65-F5344CB8AC3E}">
        <p14:creationId xmlns:p14="http://schemas.microsoft.com/office/powerpoint/2010/main" val="700318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D7896-A17D-4477-A6C4-6AA1C7F8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TEAM AND INDIVIDUAL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B1E51-6E35-42D9-BDC9-267860BB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One project, three accountable owners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A35E2-DF49-4EBA-9D33-E1CA4235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B9F5E-CBAE-48B1-957A-A612853E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356DF-9EED-4671-91CB-96EE4C99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330F7-858A-4B89-9060-7594C12A2983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6334125"/>
                <a:gridCol w="3810000"/>
              </a:tblGrid>
              <a:tr h="976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Proposed ownership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Review contribution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Yeshimkul Beybit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Frontend, UX and visualisation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Analysis output usability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Shaikenov Danial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Backend, integrations and storage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Frontend integration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Saken Akhmediyar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AI/NLP, evaluation and QA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Backend acceptance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7633C-1CCC-401E-BCD2-4F500EE7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Each module includes tests and documentation. Changes are linked to YouTrack issues and reviewed in PRs.</a:t>
            </a:r>
          </a:p>
        </p:txBody>
      </p:sp>
    </p:spTree>
    <p:extLst>
      <p:ext uri="{BB962C8B-B14F-4D97-AF65-F5344CB8AC3E}">
        <p14:creationId xmlns:p14="http://schemas.microsoft.com/office/powerpoint/2010/main" val="1017676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C3DB3-2AA8-4BE2-9656-57CCD9A7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RELEVANCE AND EVIDENCE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26C63-B5A6-441B-865F-2E222B99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Discovery will test the business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D72C7-39C0-46A5-918E-41D85742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C586C-FF4E-45B8-98A2-9C4A19EC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23B49-E0D7-4D36-8A21-ADEACAD8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EDBF2-C594-4054-BE53-6BBD96D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Recruit 3–5 prospective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F72B1-09A5-4983-BA31-75F0B187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Ask about their last real interaction, note-taking process, errors and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D464A-1DC2-47CB-B7CF-996DA83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Observe the current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80464-08C2-4958-B062-47277EE8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Record consent, participant role, anonymised examples and current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CD979-02CC-4130-8EDF-04453814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Translate evidence into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8AE4E-EC9D-4C3B-AB70-C92F26C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Link each supported need to a requirement. Record counterexamples and rejected assumptions.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3594-7430-464A-AA3E-D8183956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Current status: OPEN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B530D-07CB-41BA-A478-9C9C14C6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An interview template is ready. No completed discussion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1914321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50A53-D440-4C86-81F7-CF33CD2F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CRITICAL 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B02D1-A547-463B-8BEF-147CA1A6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Scientific evidence informs the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1085A-417A-4EC9-AF21-74D1EDD8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78C5E-5902-4F4F-A31C-F3899D1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5D741-515C-4B16-A16D-582C5E19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749B2-3D76-400C-9954-70B9C256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Datasets and evidence spans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BB22A-79C4-4553-8A0A-33F9F6B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DialogSum [L01] and QMSum [L02]: useful test material, with a domain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074C6-9814-499C-995C-6292DE64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Dialogue factuality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91C76-EAC2-40AD-B503-FA95540B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DialSummEval [L03], FacEval [L04], SummaC [L05] and DIASUMFACT [L06].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9D38B-7555-4DE5-AC5B-EC066709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Evaluation and method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0EECF-149D-4B65-B121-443CCADA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GPTCalls [L07, preprint], dialogue consistency [L08], FineSurE [L09] and distillation [L10].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1405C-D8D4-4217-9A1A-6B7A8A79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Critical conclusion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8BA52-65B5-452F-AB97-FFC5157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Generic summary scores cannot establish factual reliability or business benefit.</a:t>
            </a:r>
          </a:p>
        </p:txBody>
      </p:sp>
    </p:spTree>
    <p:extLst>
      <p:ext uri="{BB962C8B-B14F-4D97-AF65-F5344CB8AC3E}">
        <p14:creationId xmlns:p14="http://schemas.microsoft.com/office/powerpoint/2010/main" val="1242554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08FC7-330C-40B5-834E-A874F2C4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DESIGN IMPLICATIONS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A2F70-EDB2-4D83-9755-2EF165BF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Source references support human checking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6C142-9D24-46CD-B23B-F5D3C958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0A35F-C216-4C04-8781-28727FE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F3295-8F0A-459F-9E3F-63CCE801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24135-8CCF-4BC8-94C9-54008CED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Trace every extracted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238EF-2063-413C-8CB9-BA6855D3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Keep stable source-turn IDs and display the corresponding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06F88-D684-492B-9C88-023659BA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Separate raw and reviewed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7B0A2-4313-4E3C-81C5-3D1163A5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Record approval, rejection and edits without replacing the original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7FAEE-5ABA-4035-BCD6-9A3DCCF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Compare under fixed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C4AFD-7BC4-42F7-8529-41DE46DE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Use the same held-out records and pinned method/configuration versions.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9057B-7189-4D1C-ACA2-6AEA8A16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Test a relevant alternative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FA000-880A-4F96-B082-EB1E164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Compare manual review, an extractive baseline and a selected pretrained candidate.</a:t>
            </a:r>
          </a:p>
        </p:txBody>
      </p:sp>
    </p:spTree>
    <p:extLst>
      <p:ext uri="{BB962C8B-B14F-4D97-AF65-F5344CB8AC3E}">
        <p14:creationId xmlns:p14="http://schemas.microsoft.com/office/powerpoint/2010/main" val="1305052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955ED-4FA5-4815-8F33-B761B323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COMPARISON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EB478-9274-40E3-9558-70C1EB57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Existing systems already analyse interactions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C4581-175B-4635-B939-916C7C77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F0783-0CA2-4C12-9FD8-69112823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94A49-D0F7-463F-BA31-4B8B0FD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D330B-8390-4013-AE0F-4B47A9DE6AA6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28925"/>
                <a:gridCol w="2857500"/>
                <a:gridCol w="2819400"/>
                <a:gridCol w="2828925"/>
              </a:tblGrid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Criterion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HubSpot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Salesforce ECI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Zoho Zia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Dynamics 365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Recorded calls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Voice/video calls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Recorded calls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Call transcripts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Transcript review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Transcript + playback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Not verified¹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Highlights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Transcript review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Summary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Review summary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Generative summary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One-line summary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Summary + insights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Topics / terms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Tracked terms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Insights, config unknown¹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Keywords / phrases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Keywords / competitors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6752E-3CAD-4510-8C85-1F32BCBC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Official docs checked 19 Oct 2026 [S01–S06]. ¹ Narrow indexed excerpt only. No tenant testing.</a:t>
            </a:r>
          </a:p>
        </p:txBody>
      </p:sp>
    </p:spTree>
    <p:extLst>
      <p:ext uri="{BB962C8B-B14F-4D97-AF65-F5344CB8AC3E}">
        <p14:creationId xmlns:p14="http://schemas.microsoft.com/office/powerpoint/2010/main" val="13731470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FEA72-7DAE-4E64-8632-6C90A51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COMPARISON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DA447-56E0-4819-8B4B-2C50DD5D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Availability depends on product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D4917-3171-423A-BA90-1DEC539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2FCD4-3223-4542-888E-D011FC14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BC52F-1F97-4668-BDF0-7C604792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AA7A6-45A2-4D8C-B70E-C3118D2F26B4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28925"/>
                <a:gridCol w="2857500"/>
                <a:gridCol w="2819400"/>
                <a:gridCol w="2828925"/>
              </a:tblGrid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Criterion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HubSpot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Salesforce ECI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Zoho Zia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Dynamics 365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Next steps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Not verified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Included in summary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Action list unverified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Language-dependent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Human review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Comments / coaching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Summary sharing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Transcript inspection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Call summary review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Entitlement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Eligible Pro/Enterprise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Exact licence unchecked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Pro+; JP excluded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Licence / roles / setup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Languages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Verify target language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Not verified¹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Local quality unproven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Feature-specific support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48A96-9A12-46CC-99A3-07F84BDA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No claim of market uniqueness. A configured commercial CRM remains a relevant alternative.</a:t>
            </a:r>
          </a:p>
        </p:txBody>
      </p:sp>
    </p:spTree>
    <p:extLst>
      <p:ext uri="{BB962C8B-B14F-4D97-AF65-F5344CB8AC3E}">
        <p14:creationId xmlns:p14="http://schemas.microsoft.com/office/powerpoint/2010/main" val="16181926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82AE2-9ECF-49AE-BF6B-8350E5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TECHNOLOGY ALTERNATIVES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9147D-E95E-4D9E-813B-552D5C74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Five technology decisions remain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284A2-647F-404C-ABC3-F1540BC8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8AC9B-849F-485D-980B-72B2F76C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C07A9-9653-4545-8AB3-D7FA808E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273EC-1308-49C9-BD95-5721EEDBC785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429250"/>
                <a:gridCol w="5524500"/>
              </a:tblGrid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Alternatives considered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Proposed choice / reason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Vue / React / Angular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Vue 3 + TypeScript; reported experience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FastAPI / NestJS / Django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FastAPI; Python analysis integration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PostgreSQL / MongoDB / SQLite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PostgreSQL; relational records + jobs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Communication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REST + polling / GraphQL / broker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HTTP JSON + durable jobs; limited scope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Extractive / pretrained / hosted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Extractive baseline, evaluate pinned candidate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474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303AF-0491-4A51-8775-356242F1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FUNCTIONAL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F329B-03BE-494B-91F0-B9315FE3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Requirements have explicit acceptance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447C5-8A76-4341-AB34-878EC12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250E9-CBAF-4893-84B0-D6225C5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E8E28-327E-4025-AA74-CCC8F0DE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578A9-7FF2-4818-BAA2-D04FEEC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FR-01–FR-04: access, records and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E542E-D9A9-409E-8624-C5DCC47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Object permissions, customer records, interaction capture and search.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69BF7-2236-4A5C-89B0-88539EB8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FR-05–FR-08: analysis and human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BEC98-1EA5-4854-BD4F-368D077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Durable jobs, source-linked results, review decisions and failure recovery.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69B1A-A86C-4F99-BAB2-645961DF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FR-09–FR-12: exports and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F28DF-CFD2-422C-AAEF-3AB15C6C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Accessible export and run comparison. Overview and extra adapters are lower priority.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BDF61-443C-4133-8E85-7977974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Acceptance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43594-C86F-454F-90E4-CE2547F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Opening a source reference highlights the exact turn without altering the original text.</a:t>
            </a:r>
          </a:p>
        </p:txBody>
      </p:sp>
    </p:spTree>
    <p:extLst>
      <p:ext uri="{BB962C8B-B14F-4D97-AF65-F5344CB8AC3E}">
        <p14:creationId xmlns:p14="http://schemas.microsoft.com/office/powerpoint/2010/main" val="7797066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C3B7E-B236-4F53-BBEC-4DAA2874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NONFUNCTIONAL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8B4F3-F844-48C2-AC18-C9CF87E8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Quality targets require controlled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115DC-6A5F-4A29-8202-4B1622A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B4BDF-F141-40DF-AED9-8C092574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49D74-AA40-43C5-91CE-D3973539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F5AE8-C7CB-42CA-9B32-79C14F47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Reliability and reproducibility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D7F7E-7F20-4312-AFF5-C351A8FA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Record source hash, method/configuration versions and raw output. Use bounded retries.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370C2-CF3A-4FD9-8327-F1EA3B58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Performance 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00B68-7D66-49D8-ACB4-A74C7E44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Measure p50/p95 under declared hardware, input size and concurrency.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CA3B1-774E-4F7E-BB2E-5198A0BC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Privacy and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A01E2-C810-4156-B7CA-E352A54B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Keep real customer data outside Git. Verify role and object permissions in the backend.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EFF58-D31B-4E59-9B6D-A460235B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Usability and portability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BEC15-4A34-4311-9C61-DC06B8A0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Keyboard operation, narrow-screen layout, clear error states and a documented local setup.</a:t>
            </a:r>
          </a:p>
        </p:txBody>
      </p:sp>
    </p:spTree>
    <p:extLst>
      <p:ext uri="{BB962C8B-B14F-4D97-AF65-F5344CB8AC3E}">
        <p14:creationId xmlns:p14="http://schemas.microsoft.com/office/powerpoint/2010/main" val="4603194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8ABDA-D975-46C7-82D7-12D50E17489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67875" y="4619625"/>
            <a:ext cx="1857375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dash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FD467-B68D-4BDE-97AD-34E094766A1A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667875" y="3333750"/>
            <a:ext cx="18573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E01A8-F309-494C-AB66-64B2CF993F8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000500" y="4619625"/>
            <a:ext cx="19526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9DF0F-3BD0-4609-8B94-5158577CA26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00500" y="3429000"/>
            <a:ext cx="19526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2898B-355A-4EF3-B78D-480A6950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EDITABLE CONTEXT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07D4C-162A-48E8-9418-9E530819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System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57C3A-F8CC-44CA-92FE-66CEF54C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4C062-F56E-4466-B543-B9FFB21E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D5510-9C2F-46B6-84E6-E63FB9C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403BA-E53C-4140-BD71-5807F377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77573-D779-44FB-B4ED-0B07C59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Analyst / 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56AFB-ABAA-42DF-AEF5-F9A8C67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71589-57FC-4E0B-8453-FD714D1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9D07C-451A-4AB3-AE87-49AA49A9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1000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60F25-E030-4502-A8AD-01484542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100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Intelligent CRM</a:t>
            </a:r>
          </a:p>
          <a:p xmlns:a="http://schemas.openxmlformats.org/drawingml/2006/main">
            <a: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48ECD-5F7C-4C56-83D9-11AAD06F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8575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A57C1-DDB2-45B5-ACD7-8A804746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0575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Text input / 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C94DD-8F4F-4AB0-B58A-D2F829B9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3816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FCF96-D08D-4348-A65B-DE9EB085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5816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Optional analysis</a:t>
            </a:r>
          </a:p>
          <a:p xmlns:a="http://schemas.openxmlformats.org/drawingml/2006/main">
            <a: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6119E-2B7A-4FD8-9524-F61AF9C3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432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Review and analyse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0B91E-E0A0-4DFD-9BD7-3B1E81FD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2865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7EEEB-416A-436C-9867-CE92615D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194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Validated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706FB9-48DA-4F68-86C3-2479FD9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0483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Optional inference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7E1E4-354C-4C5E-BC8A-CC3903CE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One organisation. Text-only MVP. All fixtures currently synthetic.</a:t>
            </a:r>
          </a:p>
        </p:txBody>
      </p:sp>
    </p:spTree>
    <p:extLst>
      <p:ext uri="{BB962C8B-B14F-4D97-AF65-F5344CB8AC3E}">
        <p14:creationId xmlns:p14="http://schemas.microsoft.com/office/powerpoint/2010/main" val="1182463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9F6D3B-CED2-4D3D-A0F9-607A44D3274A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8096250" y="6596063"/>
            <a:ext cx="104775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dash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7081B4-48AD-498A-95FB-81FD727B8CE3}"/>
              </a:ext>
            </a:extLst>
          </p:cNvPr>
          <p:cNvCxnSpPr>
            <a:stCxn xmlns:a="http://schemas.openxmlformats.org/drawingml/2006/main" id="16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8096250" y="5167313"/>
            <a:ext cx="104775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dash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3A6933-E33B-42C9-9526-550955B914E5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24" idx="6"/>
          </p:cNvCxnSpPr>
          <p:nvPr/>
        </p:nvCxnSpPr>
        <p:spPr>
          <a:xfrm xmlns:a="http://schemas.openxmlformats.org/drawingml/2006/main" flipH="1" flipV="1">
            <a:off x="12096750" y="3738563"/>
            <a:ext cx="952500" cy="738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ADB2B-9C12-4D88-B691-05C4A5FC7ADF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952625" y="4857750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FF6B9-F8FF-403D-9C10-7BD22151D30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3143250" y="4381500"/>
            <a:ext cx="1619250" cy="2238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4093D-245C-4774-A053-C0440AF8394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3143250" y="4381500"/>
            <a:ext cx="16192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A8CE18-3596-491A-B851-81E3906CDC9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3143250" y="3762375"/>
            <a:ext cx="16192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CB51E7-A48C-40DF-AB0D-8339F753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EDITABLE UML USE-CASE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294EE-FC56-45F1-AF5D-A1E93F4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Use cases connect roles to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42B9B-E01D-4AC9-A00B-E35ACF9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D36CE-43C1-4C25-821F-C960C9F3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AADFA-410A-4611-9AB2-F5E9AE8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8C769-947E-42EE-89FA-9EB8A1B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847725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D3E58-81FA-4CDA-812B-80FCECF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27A"/>
                </a:solidFill>
                <a:latin typeface="Arial"/>
                <a:ea typeface="Arial"/>
                <a:cs typeface="Arial"/>
              </a:rPr>
              <a:t>CRM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03791-FD3E-4E22-AD6D-32174700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2A3A2-71E2-455A-94DB-1087D32A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DE95F-EF44-4E48-87DD-AA799967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73424-A07E-4609-ACE0-87DD4C8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484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7BFE4-9915-4F52-97F2-0FC5893A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0005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35492-1C48-4A98-82F2-ABC1C026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0052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DA311-5A50-4622-9B97-BDA2B20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3333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F0EEA-B2E5-4CC1-BF08-9EF31656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337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Manage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EDB82-48A1-4DD2-B7CE-00BF2995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3333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5023F-0414-46C6-9FC8-F6094252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625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Analyse 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74D6C-B41B-4CC7-A77B-BE3B5CEA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91250"/>
            <a:ext cx="3333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EBF64-BB47-43FD-8B97-B69BA16C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912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Review / approve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B11BD-168D-4BB0-AE7B-BC2D3335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2952750" cy="809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15AD0-20AC-45AE-B336-42938E5A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625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Validate 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DFAB8-DD21-4F62-B825-8CF0F002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91250"/>
            <a:ext cx="2952750" cy="809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27BF4-B667-4F39-A4F7-3C765E90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912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Inspect 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C5315-7CEE-4E57-867C-C94DC37D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952750" cy="809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3857A-09B5-48CC-A415-905EB25E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337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A8DBD-B49F-49B8-8840-96730309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generalises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B8430-61F9-4B3C-AB1E-7F93B911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577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AB386E-1AA7-42EA-9BC4-CBF657BE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«include»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7FADD-E7BC-47E0-ACD3-14528A5C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531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«include»</a:t>
            </a:r>
          </a:p>
        </p:txBody>
      </p:sp>
    </p:spTree>
    <p:extLst>
      <p:ext uri="{BB962C8B-B14F-4D97-AF65-F5344CB8AC3E}">
        <p14:creationId xmlns:p14="http://schemas.microsoft.com/office/powerpoint/2010/main" val="12299620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3D4CA-2B28-4F83-AE0F-DF8B3DC5951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144000" y="6596063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36D87-38D8-458A-8A0B-D62EE70FB9EA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7096125" y="4476750"/>
            <a:ext cx="5667375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9CD1D-F9D2-4A8E-AE10-52B86BA6BB0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144000" y="3738563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D4819-938C-4969-872C-064CB07E40E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714750" y="3738563"/>
            <a:ext cx="13335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8BB6C-968A-44A3-BFB8-71CBFFE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EDITABLE DRAFT COMPONENT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6C696-549B-47FE-A169-0D32834D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 modular API and worker share durable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55CE4-967A-4F44-96FE-D2F9D6F5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0F90B-7C87-43D6-9A47-4C1BC04C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14FB7-F7C0-47B1-8040-CB81B89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39962-67E4-4A77-BA90-73EF705A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62656-6A54-4C35-BD63-D02D35DB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Vue web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BD482-87E9-402A-BADE-DFFE7DC2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41A3E-125E-4C27-BF3E-07CD2240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3714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Auth / records / jobs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9A3AE-891B-41F9-9869-8FD9AA9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00375"/>
            <a:ext cx="3429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67895-638F-459A-B1F2-5A591A09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0040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Records / jobs / 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07379-149B-4A42-8DB5-0B7C28F5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53125"/>
            <a:ext cx="4095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491DE-1375-4ABF-B21C-822141CE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53150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Analysis worker</a:t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Leases / bounded retries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6A486-D507-4759-A9E4-E2C9B20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3429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54A76-FF1C-49A3-BC8B-D4E0D35E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Analysis adapter</a:t>
            </a:r>
          </a:p>
          <a:p xmlns:a="http://schemas.openxmlformats.org/drawingml/2006/main">
            <a: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Baseline / 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64BA7-15C4-47F8-AC50-A4491347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HTTP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EFC51-D05A-487C-937C-20E08A16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Read / write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7AD6B-3656-4762-906D-B5E562B5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34125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Versioned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94C4E-893B-4E9D-9223-03A087DE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Proposed architecture. The current browser prototype has no backend or production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13412524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16F03-B393-4F90-AFFB-78D8390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WORKING UX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C61A3-6F22-4B22-AED3-80D2058B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The prototype demonstrates the review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39D9D-50F5-4874-ACE3-41D6F488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4FAEB-2B5A-4C1C-97CF-1B442C9F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A2C1C-CFD8-4C8D-9F8F-8AC390C4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C1DF0-EAE8-4765-809B-7EAB6458BF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b7f85b795481b"/>
          <a:stretch xmlns:a="http://schemas.openxmlformats.org/drawingml/2006/main"/>
        </p:blipFill>
        <p:spPr>
          <a:xfrm xmlns:a="http://schemas.openxmlformats.org/drawingml/2006/main">
            <a:off x="2516247" y="2428875"/>
            <a:ext cx="6302256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467ED-1FF5-4757-86E8-346E422E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14625"/>
            <a:ext cx="3524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1  Select a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2  Run baseline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3  Inspect source turns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4  Edit and 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5  Export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A0B87-70CC-49D0-8C66-1F886445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95325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Synthetic fixtures. Local browser storage. Plain JavaScript UX prototype.</a:t>
            </a:r>
          </a:p>
        </p:txBody>
      </p:sp>
    </p:spTree>
    <p:extLst>
      <p:ext uri="{BB962C8B-B14F-4D97-AF65-F5344CB8AC3E}">
        <p14:creationId xmlns:p14="http://schemas.microsoft.com/office/powerpoint/2010/main" val="12319994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58183-C379-4A99-A975-DD3C114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VERIFICATION AND EXPERIMENT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BD5F0-B38D-4EB1-A366-20F3E37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Evaluation compares quality and task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286F4-88BE-4C09-BC28-BBF6E557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BE981-C6A5-4E9F-A83C-8134C57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73E12-EDE6-44F4-BFE4-C0CBE871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69E25-48EE-426D-9D42-32510D83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EBF19-A980-4A26-8277-13C05855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B0 manual review, B1 extractive baseline, C1 pinned pretrained candidate.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9FDBD-FDA9-42D0-B793-6830389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Planned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65266-AC69-4F72-BACC-A112A72B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20 development + 100 held-out records, subject to lawful data availability.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69C98-4E01-4433-81E0-113D07C7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Proposed quality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3C5C0-F4B2-4B71-B068-3C7BD6A2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Topic macro-F1 ≥ 0.75, supported claims ≥ 0.95, key-fact coverage ≥ 0.80.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9EF13-B2DE-417A-8590-F1328B1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Proposed workflow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160A8-E777-4ECA-9050-31E9B666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Median review time improves ≥ 20% with no error increase. Report uncertainty and actual n.</a:t>
            </a:r>
          </a:p>
        </p:txBody>
      </p:sp>
    </p:spTree>
    <p:extLst>
      <p:ext uri="{BB962C8B-B14F-4D97-AF65-F5344CB8AC3E}">
        <p14:creationId xmlns:p14="http://schemas.microsoft.com/office/powerpoint/2010/main" val="8675866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C57BE-63F3-475E-84A4-92AF144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MILESTONES TO 24 OCTOBER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D0DF8-84F9-4D4D-9064-A345D429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Checkpoint plan and current tracker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2E507-370A-4269-BF17-6A311B86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655A1-5995-4246-9B36-4C2B1142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5D2E7-0E04-45A4-8D9C-CD5539D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4767C-8BE3-4565-A5FC-E9A63CCA2D9C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63000"/>
                <a:gridCol w="2857500"/>
              </a:tblGrid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Expected outcome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Lead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19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Candidate package and prototype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All three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20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Discovery / scope open; tracker created 23 Oct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Beybit + Danial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21–22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Source, requirements, UML and protocol review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All three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23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Supervisor review and rehearsal: still open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Beybit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24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Evidence audit, access and submission tag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Danial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0588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9DA59-7AA6-4E21-BF43-2422AB04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RISKS AND MITIGATIONS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1DA03-26D3-4962-A1E1-6C448919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Risks can change scope or invalidate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0BEA9-4BD6-427A-B947-258FEC4B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D6BCF-FC8A-458C-A887-DFB6FBCE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D3A5B-357A-47FC-94FF-E6B466E1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79AE6-5935-4673-B0C7-831E24A8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No validated user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EFD25-3EFB-4D4B-90D9-214EABD3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Recruit users now. If evidence is missing, disclose it and limit the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7301B-4CB1-4486-9715-31DAD3DE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Factual mistakes or unsuitable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859BF-A6DF-42B7-A6AD-B1E9B091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Use source inspection, independent annotation and a held-out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D5F3B-0B4D-4D13-A1E8-6421EDC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Scope and integration delays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52207-B2FA-4135-A4F3-0AFFFE65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Keep a text-only MVP. Review the API contract and deliver one end-to-end slice.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30809-2472-4882-8951-D3357BF9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Review and integration delays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A4067-17BF-44C0-90A7-D99A6BA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Link tasks, changes, tests and review decisions in the project workflow.</a:t>
            </a:r>
          </a:p>
        </p:txBody>
      </p:sp>
    </p:spTree>
    <p:extLst>
      <p:ext uri="{BB962C8B-B14F-4D97-AF65-F5344CB8AC3E}">
        <p14:creationId xmlns:p14="http://schemas.microsoft.com/office/powerpoint/2010/main" val="4853593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77FA3-6B53-45CA-9566-2CD605D8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CHECKPOINT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906DB-587A-4FB5-AC3F-C6DB0CF4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Prepared artefacts and remaining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39880-4098-4F02-8FD4-16B1E2EC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BBA04-5D57-42F2-837E-505FED1F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65CD5-B94D-49BE-9DE2-1632AD0C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BF49F-3FE8-4557-8FD4-5AC61706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Prepared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F2A55-79AE-45FB-A68B-2E0A398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Proposal, critical review, comparisons, requirements, diagrams, UX and evaluation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A5559-5A84-40A8-A875-A66A30A7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Executable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10E6A-57F7-408D-A54D-6D490C03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Extractive prototype and checks. YouTrack: CRM-1–CRM-14 assigned.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8FFA3-6489-478D-9847-ED8E2B8E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Still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0E28F-EBC1-4EAE-B853-A1679517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User discovery, supervisor feedback and team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ED2D6-21B9-4132-B704-3B99EB5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Submission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6DE33-AAD6-4EAB-BD5F-48CC6DD7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Select the reviewed version, check access and create the final pre-defense-1 tag.</a:t>
            </a:r>
          </a:p>
        </p:txBody>
      </p:sp>
    </p:spTree>
    <p:extLst>
      <p:ext uri="{BB962C8B-B14F-4D97-AF65-F5344CB8AC3E}">
        <p14:creationId xmlns:p14="http://schemas.microsoft.com/office/powerpoint/2010/main" val="13248621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F247B-896F-46A3-B8CE-37AFB32A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SOURCE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B839B-D27F-4C99-8D37-AFAB6E82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Scientific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CE052-D00D-4D51-B607-6D7D016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2814A-771A-4A05-8C25-1EDC79C2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Astana IT University  /  24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17502-A1B5-4957-8810-FAC276FE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40F97-BCD9-41DD-9F02-BAE8AB75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L01 Chen et al. (2021). DialogSum. Findings of ACL.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BACDB-7D61-4F18-AC49-10E1BE3E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L06 Zhu et al. (2023). Fine-Grained Factual Errors. ACL.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989A7-634F-4C1E-804C-8296FA56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L02 Zhong et al. (2021). QMSum. NAACL.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39DD2-894A-4517-A14E-B79577F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L07 Malkiel et al. (2023). GPTCalls. arXiv preprint.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29DF9-597D-43A0-BBA6-A0B70A32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L03 Gao &amp; Wan (2022). DialSummEval. NAACL.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7768B-DCC0-432D-B990-4DA6FD9C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767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L08 She et al. (2024). Dialogue consistency. NAACL.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67825-565B-45FD-B757-D3EA438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L04 Wang et al. (2022). Faithfulness. EMNLP.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EB43E-27A5-4363-83E2-04F9C797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L09 Song et al. (2024). FineSurE. ACL.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218E2-5536-4AEC-B96C-9CC7C0B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L05 Laban et al. (2022). SummaC. TACL.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2CA21-46DF-4797-AD58-BFDB5DF1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340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L10 Zhu et al. (2025). Factual dialogue distillation. COLING.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D3025-06D9-4103-90F6-A1B5A13A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Full links in speaker notes and the report. Scientific evidence: 9 peer-reviewed papers + 1 preprint.</a:t>
            </a:r>
          </a:p>
        </p:txBody>
      </p:sp>
    </p:spTree>
    <p:extLst>
      <p:ext uri="{BB962C8B-B14F-4D97-AF65-F5344CB8AC3E}">
        <p14:creationId xmlns:p14="http://schemas.microsoft.com/office/powerpoint/2010/main" val="172839856"/>
      </p:ext>
    </p:extLst>
  </p:cSld>
</p:sld>
</file>

<file path=ppt/theme/theme1.xml><?xml version="1.0" encoding="utf-8"?>
<a:theme xmlns:a="http://schemas.openxmlformats.org/drawingml/2006/main" name="CRM">
  <a:themeElements>
    <a:clrScheme name="CR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R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Slides>21</ap:Slides>
  <ap:Notes>21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Development of an Intelligent CRM Platform with Automated Customer Interaction Analysis</dc:title>
</coreProperties>
</file>