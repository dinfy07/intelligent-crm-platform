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231a084372436d" /><Relationship Type="http://schemas.openxmlformats.org/officeDocument/2006/relationships/extended-properties" Target="/docProps/app.xml" Id="Re250da4940354314" /><Relationship Type="http://schemas.openxmlformats.org/officeDocument/2006/relationships/officeDocument" Target="/ppt/presentation.xml" Id="R36a0017a004e4a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bfc0d930564d4f"/>
  </p:sldMasterIdLst>
  <p:notesMasterIdLst>
    <p:notesMasterId xmlns:r="http://schemas.openxmlformats.org/officeDocument/2006/relationships" r:id="Rfe9833444db54ba9"/>
  </p:notesMasterIdLst>
  <p:sldIdLst>
    <p:sldId xmlns:r="http://schemas.openxmlformats.org/officeDocument/2006/relationships" id="256" r:id="R1ffbaccfc87e4f2d"/>
    <p:sldId xmlns:r="http://schemas.openxmlformats.org/officeDocument/2006/relationships" id="257" r:id="R35af278f4dfe45d5"/>
    <p:sldId xmlns:r="http://schemas.openxmlformats.org/officeDocument/2006/relationships" id="258" r:id="Rd02d93c6279c4bf8"/>
    <p:sldId xmlns:r="http://schemas.openxmlformats.org/officeDocument/2006/relationships" id="259" r:id="Rf5fb303804c14535"/>
    <p:sldId xmlns:r="http://schemas.openxmlformats.org/officeDocument/2006/relationships" id="260" r:id="R595c37db15af4713"/>
    <p:sldId xmlns:r="http://schemas.openxmlformats.org/officeDocument/2006/relationships" id="261" r:id="R9284880addfc4d4d"/>
    <p:sldId xmlns:r="http://schemas.openxmlformats.org/officeDocument/2006/relationships" id="262" r:id="R65d45252ff144120"/>
    <p:sldId xmlns:r="http://schemas.openxmlformats.org/officeDocument/2006/relationships" id="263" r:id="Re6f250b018184461"/>
    <p:sldId xmlns:r="http://schemas.openxmlformats.org/officeDocument/2006/relationships" id="264" r:id="R7a6e79ae53f3409a"/>
    <p:sldId xmlns:r="http://schemas.openxmlformats.org/officeDocument/2006/relationships" id="265" r:id="Rb6d3bb70c68c4cd2"/>
    <p:sldId xmlns:r="http://schemas.openxmlformats.org/officeDocument/2006/relationships" id="266" r:id="R9db02cab38ac4690"/>
    <p:sldId xmlns:r="http://schemas.openxmlformats.org/officeDocument/2006/relationships" id="267" r:id="R1e49fac05b11436f"/>
    <p:sldId xmlns:r="http://schemas.openxmlformats.org/officeDocument/2006/relationships" id="268" r:id="Rcd812be5c1504685"/>
    <p:sldId xmlns:r="http://schemas.openxmlformats.org/officeDocument/2006/relationships" id="269" r:id="Ra6c60d3f946040a7"/>
    <p:sldId xmlns:r="http://schemas.openxmlformats.org/officeDocument/2006/relationships" id="270" r:id="R79964420f7d748f3"/>
    <p:sldId xmlns:r="http://schemas.openxmlformats.org/officeDocument/2006/relationships" id="271" r:id="Re800695d7a7d4d7e"/>
    <p:sldId xmlns:r="http://schemas.openxmlformats.org/officeDocument/2006/relationships" id="272" r:id="R95c6b1769cde41ec"/>
    <p:sldId xmlns:r="http://schemas.openxmlformats.org/officeDocument/2006/relationships" id="273" r:id="Re6f4733dfa824d2d"/>
    <p:sldId xmlns:r="http://schemas.openxmlformats.org/officeDocument/2006/relationships" id="274" r:id="Ra4da635435a642e0"/>
    <p:sldId xmlns:r="http://schemas.openxmlformats.org/officeDocument/2006/relationships" id="275" r:id="R945c3dee26ce4c7d"/>
    <p:sldId xmlns:r="http://schemas.openxmlformats.org/officeDocument/2006/relationships" id="276" r:id="Rba46214bf7f8410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ace98845ec4755" /><Relationship Type="http://schemas.openxmlformats.org/officeDocument/2006/relationships/slideMaster" Target="/ppt/slideMasters/slideMaster1.xml" Id="R9cbfc0d930564d4f" /><Relationship Type="http://schemas.openxmlformats.org/officeDocument/2006/relationships/notesMaster" Target="/ppt/notesMasters/notesMaster1.xml" Id="Rfe9833444db54ba9" /><Relationship Type="http://schemas.openxmlformats.org/officeDocument/2006/relationships/presProps" Target="/ppt/presProps.xml" Id="R7551b5373c084e44" /><Relationship Type="http://schemas.openxmlformats.org/officeDocument/2006/relationships/tableStyles" Target="/ppt/tableStyles.xml" Id="R40905441d5df4d52" /><Relationship Type="http://schemas.openxmlformats.org/officeDocument/2006/relationships/slide" Target="/ppt/slides/slide1.xml" Id="R1ffbaccfc87e4f2d" /><Relationship Type="http://schemas.openxmlformats.org/officeDocument/2006/relationships/slide" Target="/ppt/slides/slide2.xml" Id="R35af278f4dfe45d5" /><Relationship Type="http://schemas.openxmlformats.org/officeDocument/2006/relationships/slide" Target="/ppt/slides/slide3.xml" Id="Rd02d93c6279c4bf8" /><Relationship Type="http://schemas.openxmlformats.org/officeDocument/2006/relationships/slide" Target="/ppt/slides/slide4.xml" Id="Rf5fb303804c14535" /><Relationship Type="http://schemas.openxmlformats.org/officeDocument/2006/relationships/slide" Target="/ppt/slides/slide5.xml" Id="R595c37db15af4713" /><Relationship Type="http://schemas.openxmlformats.org/officeDocument/2006/relationships/slide" Target="/ppt/slides/slide6.xml" Id="R9284880addfc4d4d" /><Relationship Type="http://schemas.openxmlformats.org/officeDocument/2006/relationships/slide" Target="/ppt/slides/slide7.xml" Id="R65d45252ff144120" /><Relationship Type="http://schemas.openxmlformats.org/officeDocument/2006/relationships/slide" Target="/ppt/slides/slide8.xml" Id="Re6f250b018184461" /><Relationship Type="http://schemas.openxmlformats.org/officeDocument/2006/relationships/slide" Target="/ppt/slides/slide9.xml" Id="R7a6e79ae53f3409a" /><Relationship Type="http://schemas.openxmlformats.org/officeDocument/2006/relationships/slide" Target="/ppt/slides/slide10.xml" Id="Rb6d3bb70c68c4cd2" /><Relationship Type="http://schemas.openxmlformats.org/officeDocument/2006/relationships/slide" Target="/ppt/slides/slide11.xml" Id="R9db02cab38ac4690" /><Relationship Type="http://schemas.openxmlformats.org/officeDocument/2006/relationships/slide" Target="/ppt/slides/slide12.xml" Id="R1e49fac05b11436f" /><Relationship Type="http://schemas.openxmlformats.org/officeDocument/2006/relationships/slide" Target="/ppt/slides/slide13.xml" Id="Rcd812be5c1504685" /><Relationship Type="http://schemas.openxmlformats.org/officeDocument/2006/relationships/slide" Target="/ppt/slides/slide14.xml" Id="Ra6c60d3f946040a7" /><Relationship Type="http://schemas.openxmlformats.org/officeDocument/2006/relationships/slide" Target="/ppt/slides/slide15.xml" Id="R79964420f7d748f3" /><Relationship Type="http://schemas.openxmlformats.org/officeDocument/2006/relationships/slide" Target="/ppt/slides/slide16.xml" Id="Re800695d7a7d4d7e" /><Relationship Type="http://schemas.openxmlformats.org/officeDocument/2006/relationships/slide" Target="/ppt/slides/slide17.xml" Id="R95c6b1769cde41ec" /><Relationship Type="http://schemas.openxmlformats.org/officeDocument/2006/relationships/slide" Target="/ppt/slides/slide18.xml" Id="Re6f4733dfa824d2d" /><Relationship Type="http://schemas.openxmlformats.org/officeDocument/2006/relationships/slide" Target="/ppt/slides/slide19.xml" Id="Ra4da635435a642e0" /><Relationship Type="http://schemas.openxmlformats.org/officeDocument/2006/relationships/slide" Target="/ppt/slides/slide20.xml" Id="R945c3dee26ce4c7d" /><Relationship Type="http://schemas.openxmlformats.org/officeDocument/2006/relationships/slide" Target="/ppt/slides/slide21.xml" Id="Rba46214bf7f841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3fbda5c51640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6663d515d04e1d" /><Relationship Type="http://schemas.openxmlformats.org/officeDocument/2006/relationships/notesMaster" Target="/ppt/notesMasters/notesMaster1.xml" Id="Rb5cad83611124b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e19f00ce404595" /><Relationship Type="http://schemas.openxmlformats.org/officeDocument/2006/relationships/notesMaster" Target="/ppt/notesMasters/notesMaster1.xml" Id="R1e7f46e0c3b54d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63cf1c46ed4322" /><Relationship Type="http://schemas.openxmlformats.org/officeDocument/2006/relationships/notesMaster" Target="/ppt/notesMasters/notesMaster1.xml" Id="R3dda42edfdcf4a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6088bd66304260" /><Relationship Type="http://schemas.openxmlformats.org/officeDocument/2006/relationships/notesMaster" Target="/ppt/notesMasters/notesMaster1.xml" Id="Rd0d059b58ee146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031a77dd6a4374" /><Relationship Type="http://schemas.openxmlformats.org/officeDocument/2006/relationships/notesMaster" Target="/ppt/notesMasters/notesMaster1.xml" Id="R5fd61843e94d41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96cdb60aa843ad" /><Relationship Type="http://schemas.openxmlformats.org/officeDocument/2006/relationships/notesMaster" Target="/ppt/notesMasters/notesMaster1.xml" Id="Re61c734e577245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f5cedc8b89484c" /><Relationship Type="http://schemas.openxmlformats.org/officeDocument/2006/relationships/notesMaster" Target="/ppt/notesMasters/notesMaster1.xml" Id="Rc9d35efb9cab46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38bcfe5be048d2" /><Relationship Type="http://schemas.openxmlformats.org/officeDocument/2006/relationships/notesMaster" Target="/ppt/notesMasters/notesMaster1.xml" Id="R0c8c0409b5b24b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1a49187eb249a0" /><Relationship Type="http://schemas.openxmlformats.org/officeDocument/2006/relationships/notesMaster" Target="/ppt/notesMasters/notesMaster1.xml" Id="R881041d3318244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6b0ece92c0482a" /><Relationship Type="http://schemas.openxmlformats.org/officeDocument/2006/relationships/notesMaster" Target="/ppt/notesMasters/notesMaster1.xml" Id="Rd87f6d2cd7904a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2e61d58ee5440e" /><Relationship Type="http://schemas.openxmlformats.org/officeDocument/2006/relationships/notesMaster" Target="/ppt/notesMasters/notesMaster1.xml" Id="R3c09710c47b045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0aaf7e437e40fe" /><Relationship Type="http://schemas.openxmlformats.org/officeDocument/2006/relationships/notesMaster" Target="/ppt/notesMasters/notesMaster1.xml" Id="Rcac957c4305a43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6f7de8090c4ab7" /><Relationship Type="http://schemas.openxmlformats.org/officeDocument/2006/relationships/notesMaster" Target="/ppt/notesMasters/notesMaster1.xml" Id="R322678d8bde14b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8c4c5327ff4418" /><Relationship Type="http://schemas.openxmlformats.org/officeDocument/2006/relationships/notesMaster" Target="/ppt/notesMasters/notesMaster1.xml" Id="Rb010d9f71c8a49d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15f439a753472d" /><Relationship Type="http://schemas.openxmlformats.org/officeDocument/2006/relationships/notesMaster" Target="/ppt/notesMasters/notesMaster1.xml" Id="R794b0e43b7e44ff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ffe38e74c774997" /><Relationship Type="http://schemas.openxmlformats.org/officeDocument/2006/relationships/notesMaster" Target="/ppt/notesMasters/notesMaster1.xml" Id="R88dff697e7b54e9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b279a2344194d0f" /><Relationship Type="http://schemas.openxmlformats.org/officeDocument/2006/relationships/notesMaster" Target="/ppt/notesMasters/notesMaster1.xml" Id="R39442576e0c04cd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2f470e52df3450a" /><Relationship Type="http://schemas.openxmlformats.org/officeDocument/2006/relationships/notesMaster" Target="/ppt/notesMasters/notesMaster1.xml" Id="Rb49369e15b5b443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96f2385bdec4e41" /><Relationship Type="http://schemas.openxmlformats.org/officeDocument/2006/relationships/notesMaster" Target="/ppt/notesMasters/notesMaster1.xml" Id="Rf31c5c7728ba4ed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b95af00bd1243ec" /><Relationship Type="http://schemas.openxmlformats.org/officeDocument/2006/relationships/notesMaster" Target="/ppt/notesMasters/notesMaster1.xml" Id="Rba6ff56128c8429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fcc8aacd8c64eb7" /><Relationship Type="http://schemas.openxmlformats.org/officeDocument/2006/relationships/notesMaster" Target="/ppt/notesMasters/notesMaster1.xml" Id="R37599405a52247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первая предзащита: показываем обоснование, проектирование и работающий UX-прототип. Полная платформа пока не реализована. Название темы сохраняем.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Гипотеза: небольшим отделам продаж и поддержки приходится вручную искать важные сведения в переписке. Мы ещё не проводили интервью, поэтому не выдаём это за установленную проблему конкретной компании.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— разработать прототип CRM и проверить выбранный метод анализа. На первом этапе берём текст на английском, одну организацию и ручную проверку результатов. Распознавание аудио и автоответы не входят в обязательный объём.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Бейбит отвечает за интерфейс и визуализацию. Даниал — сервер, интеграции и хранение. Ахмедияр — анализ текста, экспериментальную оценку и QA. Каждый пишет тесты и документацию своего модуля. Это план распределения, а не подтверждение выполненного вклада.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 сдачи нужно провести 3–5 реальных обсуждений с будущими пользователями или получить содержательное согласование реального заказчика. Сейчас подготовлен только протокол. Не придумывайте ответы, длительность обработки или проценты экономии.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обзоре десять научных работ: девять рецензируемых и один препринт GPTCalls. Восемь публикаций относятся к 2022–2025 годам, две базовые — к 2021 году. Каждую связываем с решением и ограничением. Исследования обобщения диалогов не доказывают спрос на нашу CRM.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https://aclanthology.org/2021.findings-acl.449/</a:t>
            </a:r>
          </a:p>
          <a:p xmlns:a="http://schemas.openxmlformats.org/drawingml/2006/main">
            <a:r>
              <a:t>https://aclanthology.org/2021.naacl-main.472/</a:t>
            </a:r>
          </a:p>
          <a:p xmlns:a="http://schemas.openxmlformats.org/drawingml/2006/main">
            <a:r>
              <a:t>https://aclanthology.org/2022.naacl-main.418/</a:t>
            </a:r>
          </a:p>
          <a:p xmlns:a="http://schemas.openxmlformats.org/drawingml/2006/main">
            <a:r>
              <a:t>https://aclanthology.org/2022.emnlp-main.325/</a:t>
            </a:r>
          </a:p>
          <a:p xmlns:a="http://schemas.openxmlformats.org/drawingml/2006/main">
            <a:r>
              <a:t>https://aclanthology.org/2022.tacl-1.10/</a:t>
            </a:r>
          </a:p>
          <a:p xmlns:a="http://schemas.openxmlformats.org/drawingml/2006/main">
            <a:r>
              <a:t>https://aclanthology.org/2023.acl-long.377/</a:t>
            </a:r>
          </a:p>
          <a:p xmlns:a="http://schemas.openxmlformats.org/drawingml/2006/main">
            <a:r>
              <a:t>https://arxiv.org/abs/2306.07941</a:t>
            </a:r>
          </a:p>
          <a:p xmlns:a="http://schemas.openxmlformats.org/drawingml/2006/main">
            <a:r>
              <a:t>https://aclanthology.org/2024.naacl-long.338/</a:t>
            </a:r>
          </a:p>
          <a:p xmlns:a="http://schemas.openxmlformats.org/drawingml/2006/main">
            <a:r>
              <a:t>https://aclanthology.org/2024.acl-long.51/</a:t>
            </a:r>
          </a:p>
          <a:p xmlns:a="http://schemas.openxmlformats.org/drawingml/2006/main">
            <a:r>
              <a:t>https://aclanthology.org/2025.coling-main.302/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 обзора следует проверять фактическую точность отдельно от удобочитаемости. Сохраняем исходный текст, ссылки на реплики и версию метода. Исходный машинный результат отделяем от правок человека. Это проектные решения, уникальность которых не установлена.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https://aclanthology.org/2021.naacl-main.472/</a:t>
            </a:r>
          </a:p>
          <a:p xmlns:a="http://schemas.openxmlformats.org/drawingml/2006/main">
            <a:r>
              <a:t>https://aclanthology.org/2022.naacl-main.418/</a:t>
            </a:r>
          </a:p>
          <a:p xmlns:a="http://schemas.openxmlformats.org/drawingml/2006/main">
            <a:r>
              <a:t>https://aclanthology.org/2022.emnlp-main.325/</a:t>
            </a:r>
          </a:p>
          <a:p xmlns:a="http://schemas.openxmlformats.org/drawingml/2006/main">
            <a:r>
              <a:t>https://aclanthology.org/2023.acl-long.377/</a:t>
            </a:r>
          </a:p>
          <a:p xmlns:a="http://schemas.openxmlformats.org/drawingml/2006/main">
            <a:r>
              <a:t>https://aclanthology.org/2024.acl-long.51/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Сравнение основано на официальной документации, а не на тестировании платных кабинетов. Отсутствие подтверждения не означает отсутствие функции. Для Salesforce доступен только официальный индексированный фрагмент страницы. Источники S01–S06 приведены в отчёте.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https://knowledge.hubspot.com/calling/review-call-recordings-and-transcripts</a:t>
            </a:r>
          </a:p>
          <a:p xmlns:a="http://schemas.openxmlformats.org/drawingml/2006/main">
            <a:r>
              <a:t>https://help.salesforce.com/s/articleView?id=sf.eci_call_summaries.htm&amp;language=en_US</a:t>
            </a:r>
          </a:p>
          <a:p xmlns:a="http://schemas.openxmlformats.org/drawingml/2006/main">
            <a:r>
              <a:t>https://help.zoho.com/portal/en/kb/crm/zia-artificial-intelligence/communication/zia-for-calls/articles/zia-call-intelligence</a:t>
            </a:r>
          </a:p>
          <a:p xmlns:a="http://schemas.openxmlformats.org/drawingml/2006/main">
            <a:r>
              <a:t>https://learn.microsoft.com/en-us/dynamics365/sales/view-and-understand-call-summary</a:t>
            </a:r>
          </a:p>
          <a:p xmlns:a="http://schemas.openxmlformats.org/drawingml/2006/main">
            <a:r>
              <a:t>https://learn.microsoft.com/en-us/dynamics365/sales/configure-keywords-competitors-sales-app</a:t>
            </a:r>
          </a:p>
          <a:p xmlns:a="http://schemas.openxmlformats.org/drawingml/2006/main">
            <a:r>
              <a:t>https://learn.microsoft.com/en-us/dynamics365/sales/language-support-conversation-intelligence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те же четыре системы и ещё четыре критерия. Мы не утверждаем преимущество по цене или поддержку казахского/русского без проверки. Наш смысл — ограниченный инженерный эксперимент с воспроизводимой проверкой.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https://knowledge.hubspot.com/calling/review-call-recordings-and-transcripts</a:t>
            </a:r>
          </a:p>
          <a:p xmlns:a="http://schemas.openxmlformats.org/drawingml/2006/main">
            <a:r>
              <a:t>https://help.salesforce.com/s/articleView?id=sf.eci_call_summaries.htm&amp;language=en_US</a:t>
            </a:r>
          </a:p>
          <a:p xmlns:a="http://schemas.openxmlformats.org/drawingml/2006/main">
            <a:r>
              <a:t>https://help.zoho.com/portal/en/kb/crm/zia-artificial-intelligence/communication/zia-for-calls/articles/zia-call-intelligence</a:t>
            </a:r>
          </a:p>
          <a:p xmlns:a="http://schemas.openxmlformats.org/drawingml/2006/main">
            <a:r>
              <a:t>https://learn.microsoft.com/en-us/dynamics365/sales/view-and-understand-call-summary</a:t>
            </a:r>
          </a:p>
          <a:p xmlns:a="http://schemas.openxmlformats.org/drawingml/2006/main">
            <a:r>
              <a:t>https://learn.microsoft.com/en-us/dynamics365/sales/configure-keywords-competitors-sales-app</a:t>
            </a:r>
          </a:p>
          <a:p xmlns:a="http://schemas.openxmlformats.org/drawingml/2006/main">
            <a:r>
              <a:t>https://learn.microsoft.com/en-us/dynamics365/sales/language-support-conversation-intelligence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предложенные технологии, которые команда должна подтвердить. Vue выбран с учётом сообщённого опыта Бейбита. Для backend предлагаем Python/FastAPI для связи с NLP. PostgreSQL хранит связанные записи и задания. Сравнение альтернатив и компромиссов находится в ADR-01–05.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https://vuejs.org/guide/introduction.html</a:t>
            </a:r>
          </a:p>
          <a:p xmlns:a="http://schemas.openxmlformats.org/drawingml/2006/main">
            <a:r>
              <a:t>https://react.dev/learn</a:t>
            </a:r>
          </a:p>
          <a:p xmlns:a="http://schemas.openxmlformats.org/drawingml/2006/main">
            <a:r>
              <a:t>https://angular.dev/overview</a:t>
            </a:r>
          </a:p>
          <a:p xmlns:a="http://schemas.openxmlformats.org/drawingml/2006/main">
            <a:r>
              <a:t>https://fastapi.tiangolo.com/features/</a:t>
            </a:r>
          </a:p>
          <a:p xmlns:a="http://schemas.openxmlformats.org/drawingml/2006/main">
            <a:r>
              <a:t>https://docs.nestjs.com/openapi/introduction</a:t>
            </a:r>
          </a:p>
          <a:p xmlns:a="http://schemas.openxmlformats.org/drawingml/2006/main">
            <a:r>
              <a:t>https://docs.djangoproject.com/en/5.2/intro/overview/</a:t>
            </a:r>
          </a:p>
          <a:p xmlns:a="http://schemas.openxmlformats.org/drawingml/2006/main">
            <a:r>
              <a:t>https://www.postgresql.org/docs/current/datatype-json.html</a:t>
            </a:r>
          </a:p>
          <a:p xmlns:a="http://schemas.openxmlformats.org/drawingml/2006/main">
            <a:r>
              <a:t>https://www.mongodb.com/docs/manual/core/transactions/</a:t>
            </a:r>
          </a:p>
          <a:p xmlns:a="http://schemas.openxmlformats.org/drawingml/2006/main">
            <a:r>
              <a:t>https://sqlite.org/whentouse.html</a:t>
            </a:r>
          </a:p>
          <a:p xmlns:a="http://schemas.openxmlformats.org/drawingml/2006/main">
            <a:r>
              <a:t>https://graphql.org/learn/</a:t>
            </a:r>
          </a:p>
          <a:p xmlns:a="http://schemas.openxmlformats.org/drawingml/2006/main">
            <a:r>
              <a:t>https://www.rabbitmq.com/tutorials/tutorial-one-python</a:t>
            </a:r>
          </a:p>
          <a:p xmlns:a="http://schemas.openxmlformats.org/drawingml/2006/main">
            <a:r>
              <a:t>https://scikit-learn.org/stable/modules/generated/sklearn.feature_extraction.text.TfidfVectorizer.html</a:t>
            </a:r>
          </a:p>
          <a:p xmlns:a="http://schemas.openxmlformats.org/drawingml/2006/main">
            <a:r>
              <a:t>https://huggingface.co/docs/transformers/main_classes/pipelines</a:t>
            </a:r>
          </a:p>
          <a:p xmlns:a="http://schemas.openxmlformats.org/drawingml/2006/main">
            <a:r>
              <a:t>https://www.rfc-editor.org/rfc/rfc9110.html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отчёте 12 функциональных и 8 нефункциональных требований с приоритетами и критериями приёмки. Это требования к будущей платформе. Прототип демонстрирует только часть пользовательского процесса.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Числа на слайде — предлагаемые цели, а не измеренные результаты. В отчёте указаны ограничения ввода и условия измерения. Проверки браузерного прототипа не доказывают производительность серверной системы.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Диаграмма задаёт границу системы. Аналитик и менеджер работают через интерфейс, администратор управляет доступом. Импорт текстов — граница интеграции. Внешний провайдер анализа только опционален, его использование требует отдельного решения.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Менеджер наследует возможности аналитика. Проверка входа включается в анализ, а просмотр исходных реплик — в проверку результата. Акторы обозначены прямоугольниками со стереотипом actor. Дополнительные случаи использования, включая редактирование и экспорт, находятся в редактируемом PlantUML-файле.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Браузер обращается к API по HTTP JSON. API проверяет доступ и сохраняет задания. Worker получает задания из PostgreSQL и записывает результат. Адаптер метода отделяет извлечение от возможной будущей модели. Производственный backend пока не реализован.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Откройте локальный прототип. Выберите запись, запустите анализ, нажмите ссылку на реплику, исправьте и утвердите результат, затем экспортируйте JSON. Здесь работает детерминированный алгоритм извлечения с ключевыми словами. Обученной модели или внешнего AI API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Планируем 20 записей для настройки и 100 для отложенной оценки, если удастся собрать разрешённые данные. Минимальный фактический объём обязательно указываем. Два оценщика проверяют факты. В пользовательском опыте предлагаем пять представителей и четыре парные задачи с переменой порядка. Результатов пока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YouTrack создан 23 октября: 14 задач назначены участникам. Даты таблицы — план, а не свидетельство завершения. Остаются реальные пользователи, пересмотр материалов и согласование эксперимента. 23 октября нужен содержательный отзыв руководителя. 24 октября замораживаем выбранную версию только после реальной проверки командой.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Самые серьёзные риски — отсутствие реальных пользователей, данных и согласования. При проблемах сокращаем необязательные функции и честно ограничиваем выводы. Связь результата с исходной репликой не гарантирует его смысловую правильность, поэтому нужна ручная оценка.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Готовы проектные материалы, демонстрационный интерфейс, схемы и план проверок. YouTrack создан и задачи назначены. Открыты: реальные интервью, отзыв руководителя, выполненные студентами правки и реальные результаты оценки. Черновой PR не считается согласованием.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Полные библиографические записи, ссылки, ограничения и связь с решениями приведены в отчёте. Дополнительно использованы официальные материалы поставщиков CRM и документация технологий. Все внешние источники проверялись 19 октября 2026 года. Десять научных работ не означают десять подтверждений рыночного спроса.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https://aclanthology.org/2021.findings-acl.449/</a:t>
            </a:r>
          </a:p>
          <a:p xmlns:a="http://schemas.openxmlformats.org/drawingml/2006/main">
            <a:r>
              <a:t>https://aclanthology.org/2021.naacl-main.472/</a:t>
            </a:r>
          </a:p>
          <a:p xmlns:a="http://schemas.openxmlformats.org/drawingml/2006/main">
            <a:r>
              <a:t>https://aclanthology.org/2022.naacl-main.418/</a:t>
            </a:r>
          </a:p>
          <a:p xmlns:a="http://schemas.openxmlformats.org/drawingml/2006/main">
            <a:r>
              <a:t>https://aclanthology.org/2022.emnlp-main.325/</a:t>
            </a:r>
          </a:p>
          <a:p xmlns:a="http://schemas.openxmlformats.org/drawingml/2006/main">
            <a:r>
              <a:t>https://aclanthology.org/2022.tacl-1.10/</a:t>
            </a:r>
          </a:p>
          <a:p xmlns:a="http://schemas.openxmlformats.org/drawingml/2006/main">
            <a:r>
              <a:t>https://aclanthology.org/2023.acl-long.377/</a:t>
            </a:r>
          </a:p>
          <a:p xmlns:a="http://schemas.openxmlformats.org/drawingml/2006/main">
            <a:r>
              <a:t>https://arxiv.org/abs/2306.07941</a:t>
            </a:r>
          </a:p>
          <a:p xmlns:a="http://schemas.openxmlformats.org/drawingml/2006/main">
            <a:r>
              <a:t>https://aclanthology.org/2024.naacl-long.338/</a:t>
            </a:r>
          </a:p>
          <a:p xmlns:a="http://schemas.openxmlformats.org/drawingml/2006/main">
            <a:r>
              <a:t>https://aclanthology.org/2024.acl-long.51/</a:t>
            </a:r>
          </a:p>
          <a:p xmlns:a="http://schemas.openxmlformats.org/drawingml/2006/main">
            <a:r>
              <a:t>https://aclanthology.org/2025.coling-main.302/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6cc268d0074e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2d7fe91c8c43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e11d4ba424b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bf7d63d41742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3e4ce95c3a46a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aa6d374b949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B88056-53FD-4384-AFD3-A6DC272B9A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E33DF66-3730-411C-88C7-130A49A578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AE737A7-9A5B-41B0-A7CE-09C286ACF6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926689-5F99-4ACE-823D-224EAE3D9C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50A0B4-4D29-43E5-ACF8-81DB0A6002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D92AAC-0517-4138-8A02-F64776CD2D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B234FB-5ECF-49C8-95CD-6E017081B8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F8F09F6-813F-4FB0-8DDF-3EAAC93FE6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CD16E3-299F-48FC-946B-55108CA79B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B0FDA2-C764-4140-A138-04E496794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0bff1c907340c7" /><Relationship Type="http://schemas.openxmlformats.org/officeDocument/2006/relationships/slideLayout" Target="/ppt/slideLayouts/slideLayout1.xml" Id="R25ef0167dce3432f" /><Relationship Type="http://schemas.openxmlformats.org/officeDocument/2006/relationships/slideLayout" Target="/ppt/slideLayouts/slideLayout2.xml" Id="R93d796dd85834a63" /><Relationship Type="http://schemas.openxmlformats.org/officeDocument/2006/relationships/slideLayout" Target="/ppt/slideLayouts/slideLayout3.xml" Id="Re4dde9e4573d41de" /><Relationship Type="http://schemas.openxmlformats.org/officeDocument/2006/relationships/slideLayout" Target="/ppt/slideLayouts/slideLayout4.xml" Id="R875e19ed5dc4486d" /><Relationship Type="http://schemas.openxmlformats.org/officeDocument/2006/relationships/slideLayout" Target="/ppt/slideLayouts/slideLayout5.xml" Id="R30e9b52320e24900" /><Relationship Type="http://schemas.openxmlformats.org/officeDocument/2006/relationships/slideLayout" Target="/ppt/slideLayouts/slideLayout6.xml" Id="R0ce024fc45ee44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ef0167dce3432f"/>
    <p:sldLayoutId xmlns:r="http://schemas.openxmlformats.org/officeDocument/2006/relationships" id="2147483650" r:id="R93d796dd85834a63"/>
    <p:sldLayoutId xmlns:r="http://schemas.openxmlformats.org/officeDocument/2006/relationships" id="2147483651" r:id="Re4dde9e4573d41de"/>
    <p:sldLayoutId xmlns:r="http://schemas.openxmlformats.org/officeDocument/2006/relationships" id="2147483652" r:id="R875e19ed5dc4486d"/>
    <p:sldLayoutId xmlns:r="http://schemas.openxmlformats.org/officeDocument/2006/relationships" id="2147483653" r:id="R30e9b52320e24900"/>
    <p:sldLayoutId xmlns:r="http://schemas.openxmlformats.org/officeDocument/2006/relationships" id="2147483654" r:id="R0ce024fc45ee44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c69b2116b94887" /><Relationship Type="http://schemas.openxmlformats.org/officeDocument/2006/relationships/notesSlide" Target="/ppt/notesSlides/notesSlide1.xml" Id="Rcbd7e460f3b04e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bc0bfeb2674efa" /><Relationship Type="http://schemas.openxmlformats.org/officeDocument/2006/relationships/notesSlide" Target="/ppt/notesSlides/notesSlide2.xml" Id="R3bd77e50277846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c628fd728c4532" /><Relationship Type="http://schemas.openxmlformats.org/officeDocument/2006/relationships/notesSlide" Target="/ppt/notesSlides/notesSlide3.xml" Id="R1f78333ad9c648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7ac6d16fb84ddc" /><Relationship Type="http://schemas.openxmlformats.org/officeDocument/2006/relationships/notesSlide" Target="/ppt/notesSlides/notesSlide4.xml" Id="R1555fb0e528946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0f422e3e3442d6" /><Relationship Type="http://schemas.openxmlformats.org/officeDocument/2006/relationships/notesSlide" Target="/ppt/notesSlides/notesSlide5.xml" Id="R888e427a4a1946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c0ad908f0747cd" /><Relationship Type="http://schemas.openxmlformats.org/officeDocument/2006/relationships/notesSlide" Target="/ppt/notesSlides/notesSlide6.xml" Id="Rc22839f726944c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0db260e76e43b0" /><Relationship Type="http://schemas.openxmlformats.org/officeDocument/2006/relationships/notesSlide" Target="/ppt/notesSlides/notesSlide7.xml" Id="R1fb4e603155643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a34533f0424660" /><Relationship Type="http://schemas.openxmlformats.org/officeDocument/2006/relationships/notesSlide" Target="/ppt/notesSlides/notesSlide8.xml" Id="Rd43a541ab44848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4c7a94cb134211" /><Relationship Type="http://schemas.openxmlformats.org/officeDocument/2006/relationships/notesSlide" Target="/ppt/notesSlides/notesSlide9.xml" Id="R8348c6dacac44d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04e5036d3d453d" /><Relationship Type="http://schemas.openxmlformats.org/officeDocument/2006/relationships/notesSlide" Target="/ppt/notesSlides/notesSlide10.xml" Id="R9802cb507bbe44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ed2270d27b447f" /><Relationship Type="http://schemas.openxmlformats.org/officeDocument/2006/relationships/notesSlide" Target="/ppt/notesSlides/notesSlide11.xml" Id="Rdb6f6866977541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ffb55b782e46b2" /><Relationship Type="http://schemas.openxmlformats.org/officeDocument/2006/relationships/notesSlide" Target="/ppt/notesSlides/notesSlide12.xml" Id="R2d8c334b152442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b7370f9c3840c9" /><Relationship Type="http://schemas.openxmlformats.org/officeDocument/2006/relationships/notesSlide" Target="/ppt/notesSlides/notesSlide13.xml" Id="R79cf2b6b15d84c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bf8c773d724931" /><Relationship Type="http://schemas.openxmlformats.org/officeDocument/2006/relationships/notesSlide" Target="/ppt/notesSlides/notesSlide14.xml" Id="Rfc5affb2a20842e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58bb822f1a4306" /><Relationship Type="http://schemas.openxmlformats.org/officeDocument/2006/relationships/notesSlide" Target="/ppt/notesSlides/notesSlide15.xml" Id="R26a7ed5c940542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748c0b1c1a41fa" /><Relationship Type="http://schemas.openxmlformats.org/officeDocument/2006/relationships/image" Target="/ppt/media/image.png" Id="R08a95b20b0bd466a" /><Relationship Type="http://schemas.openxmlformats.org/officeDocument/2006/relationships/notesSlide" Target="/ppt/notesSlides/notesSlide16.xml" Id="R7af671b4030140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933fc94ff84487" /><Relationship Type="http://schemas.openxmlformats.org/officeDocument/2006/relationships/notesSlide" Target="/ppt/notesSlides/notesSlide17.xml" Id="Rd9880aae69324f7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15796ab1de49a0" /><Relationship Type="http://schemas.openxmlformats.org/officeDocument/2006/relationships/notesSlide" Target="/ppt/notesSlides/notesSlide18.xml" Id="R44aaa96f0240479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a3bbe8746d4331" /><Relationship Type="http://schemas.openxmlformats.org/officeDocument/2006/relationships/notesSlide" Target="/ppt/notesSlides/notesSlide19.xml" Id="R4b75c5ca5b49460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a86b48ba724e3f" /><Relationship Type="http://schemas.openxmlformats.org/officeDocument/2006/relationships/notesSlide" Target="/ppt/notesSlides/notesSlide20.xml" Id="R2bafe9a4d00147f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8cad430a534b40" /><Relationship Type="http://schemas.openxmlformats.org/officeDocument/2006/relationships/notesSlide" Target="/ppt/notesSlides/notesSlide21.xml" Id="R59e291db5d2643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BE822-A3D7-4131-83FD-A5B5F435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PRE-DEFENSE 1  /  24 OCTOBER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EA3AB-A3FB-4C6B-B96C-657AD9C8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Development of an Intelligent CRM Platform</a:t>
            </a:r>
          </a:p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with Automated Customer Interaction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80A79-E44E-46D8-BCB9-FD6B3E4C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3B111-2FD9-4687-9794-8816F526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19 October 2026  /  Candidate for team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10223-9BA8-41AD-B69C-0A356FD7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B5D36-D923-45C2-92F7-BCFFDEC4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Yeshimkul Beybit  ·  Shaikenov Danial  ·  Saken Akhmediyar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31826-601C-4CF9-B885-2EF2346F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238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Software Engineering  /  SE-2426</a:t>
            </a:r>
          </a:p>
          <a:p xmlns:a="http://schemas.openxmlformats.org/drawingml/2006/main">
            <a:pPr>
              <a:buNone/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Supervisor: Arailym Orazova</a:t>
            </a:r>
          </a:p>
          <a:p xmlns:a="http://schemas.openxmlformats.org/drawingml/2006/main">
            <a:pPr>
              <a:buNone/>
              <a:defRPr sz="22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Astana IT University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74DB1-DBAB-4E88-8C1A-7AC251F3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98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F46E5"/>
                </a:solidFill>
                <a:latin typeface="Arial"/>
                <a:ea typeface="Arial"/>
                <a:cs typeface="Arial"/>
              </a:rPr>
              <a:t>Prepared 19 October 2026</a:t>
            </a:r>
          </a:p>
          <a:p xmlns:a="http://schemas.openxmlformats.org/drawingml/2006/main">
            <a:pPr>
              <a:buNone/>
              <a:defRPr sz="2025" b="0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F46E5"/>
                </a:solidFill>
                <a:latin typeface="Arial"/>
                <a:ea typeface="Arial"/>
                <a:cs typeface="Arial"/>
              </a:rPr>
              <a:t>User discovery and supervisor review remain open.</a:t>
            </a:r>
          </a:p>
        </p:txBody>
      </p:sp>
    </p:spTree>
    <p:extLst>
      <p:ext uri="{BB962C8B-B14F-4D97-AF65-F5344CB8AC3E}">
        <p14:creationId xmlns:p14="http://schemas.microsoft.com/office/powerpoint/2010/main" val="4186392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B8227E-2662-4427-9497-B6C9A717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PROBLEM AND TARGET USERS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F9E7A-7A5C-4086-8F78-3938FEED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The proposed problem needs user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384D7-8830-4375-97BC-EC470FAB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A5AD5-09F2-4B95-B414-E48D5B1A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19 October 2026  /  Candidate for team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43101-99A1-4F66-9FAC-DC74D4E1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8B6AD-EE04-4DE2-B389-463B94D1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Target 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6C52F-C2B3-4DE1-9BE9-C89540FC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Sales or support specialists, their manager and an organisation administrator.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E9E0C-BCE0-45A4-B4DA-1B324090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Workflow hypothesis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33715-EF3C-406D-B3C7-21E84B48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Reading interaction histories and preparing CRM notes may take avoidable 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CD4C7-855F-4E67-99A3-844BE6C6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Research 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0932F-8AF3-4093-9C5C-008A7871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Can source-linked automated analysis reduce review time while preserving factual accuracy?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6F9CA-B59B-4DD7-921F-7D7336CF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Evidence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26034-82E8-4211-838E-7769F2A7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No client agreement or user interviews supplied. Discovery is a checkpoint dependency.</a:t>
            </a:r>
          </a:p>
        </p:txBody>
      </p:sp>
    </p:spTree>
    <p:extLst>
      <p:ext uri="{BB962C8B-B14F-4D97-AF65-F5344CB8AC3E}">
        <p14:creationId xmlns:p14="http://schemas.microsoft.com/office/powerpoint/2010/main" val="799601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7D382-9444-43AC-8234-71F058B1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AIM, SCOPE AND EXPECTED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F898E-5715-490A-BA6C-FA947E05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 bounded text-analysis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349FB-043D-4A80-8DC0-E20E31B6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123F6-E361-4295-B6B2-A7BEE378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19 October 2026  /  Candidate for team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BC72E-F35D-4FAF-947D-2BDCE3F8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2102B-4A6E-448C-A002-B09EB988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9C890-85E2-4EC1-A805-E62FA5F6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Develop and evaluate a CRM workflow for analysing customer interaction 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472E7-76FC-4893-BFE6-48428D0B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Mandatory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5BA61-496C-4FC8-A595-DFDCD737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Customer records, ordered text turns, topics, source-linked summaries and human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F1626-A875-47D0-9FA4-C4CAA2A0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Expected outcomes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9CD60-C50A-4BB0-84EB-F41FD2C9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A modular prototype, reproducible comparison and documented limitations.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3870B-CC1B-490F-8FA2-45F4D39A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Scope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9CD14-2F3A-4697-8843-C7315949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One organisation and English evaluation first. Voice transcription and automatic replies excluded.</a:t>
            </a:r>
          </a:p>
        </p:txBody>
      </p:sp>
    </p:spTree>
    <p:extLst>
      <p:ext uri="{BB962C8B-B14F-4D97-AF65-F5344CB8AC3E}">
        <p14:creationId xmlns:p14="http://schemas.microsoft.com/office/powerpoint/2010/main" val="7003187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D7896-A17D-4477-A6C4-6AA1C7F8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TEAM AND INDIVIDUAL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B1E51-6E35-42D9-BDC9-267860BB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One project, three accountable owners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A35E2-DF49-4EBA-9D33-E1CA4235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B9F5E-CBAE-48B1-957A-A612853E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19 October 2026  /  Candidate for team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356DF-9EED-4671-91CB-96EE4C99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296F6-C7F1-4746-9D2C-50E4D40B420A}"/>
              </a:ext>
            </a:extLst>
          </p:cNvPr>
          <p:cNvGraphicFramePr/>
          <p:nvPr/>
        </p:nvGraphicFramePr>
        <p:xfrm>
          <a:off xmlns:a="http://schemas.openxmlformats.org/drawingml/2006/main" x="762000" y="2571750"/>
          <a:ext xmlns:a="http://schemas.openxmlformats.org/drawingml/2006/main" cx="13716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71875"/>
                <a:gridCol w="6334125"/>
                <a:gridCol w="3810000"/>
              </a:tblGrid>
              <a:tr h="9763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Student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Proposed ownership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Review contribution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Yeshimkul Beybit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Frontend, UX and visualisation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Analysis output usability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Shaikenov Danial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Backend, integrations and storage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Frontend integration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Saken Akhmediyar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AI/NLP, evaluation and QA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Backend acceptance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7633C-1CCC-401E-BCD2-4F500EE7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Every member owns module tests and documentation. Real commits and peer review establish contribution.</a:t>
            </a:r>
          </a:p>
        </p:txBody>
      </p:sp>
    </p:spTree>
    <p:extLst>
      <p:ext uri="{BB962C8B-B14F-4D97-AF65-F5344CB8AC3E}">
        <p14:creationId xmlns:p14="http://schemas.microsoft.com/office/powerpoint/2010/main" val="10176766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CC3DB3-2AA8-4BE2-9656-57CCD9A7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RELEVANCE AND EVIDENCE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26C63-B5A6-441B-865F-2E222B99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Discovery will test the business rationale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D72C7-39C0-46A5-918E-41D85742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C586C-FF4E-45B8-98A2-9C4A19EC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19 October 2026  /  Candidate for team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23B49-E0D7-4D36-8A21-ADEACAD8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EDBF2-C594-4054-BE53-6BBD96D4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Recruit 3–5 prospective 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F72B1-09A5-4983-BA31-75F0B187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Ask about their last real interaction, note-taking process, errors and constraints.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D464A-1DC2-47CB-B7CF-996DA837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Observe the current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80464-08C2-4958-B062-47277EE8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Record consent, participant role, anonymised examples and current tools.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CD979-02CC-4130-8EDF-04453814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Translate evidence into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8AE4E-EC9D-4C3B-AB70-C92F26C5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Link each supported need to a requirement. Record counterexamples and rejected assumptions.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D3594-7430-464A-AA3E-D8183956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Current status: OPEN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B530D-07CB-41BA-A478-9C9C14C6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An interview template is ready. No completed discussion is claimed.</a:t>
            </a:r>
          </a:p>
        </p:txBody>
      </p:sp>
    </p:spTree>
    <p:extLst>
      <p:ext uri="{BB962C8B-B14F-4D97-AF65-F5344CB8AC3E}">
        <p14:creationId xmlns:p14="http://schemas.microsoft.com/office/powerpoint/2010/main" val="19143211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750A53-D440-4C86-81F7-CF33CD2F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CRITICAL 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B02D1-A547-463B-8BEF-147CA1A6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Scientific evidence informs the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1085A-417A-4EC9-AF21-74D1EDD8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78C5E-5902-4F4F-A31C-F3899D15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19 October 2026  /  Candidate for team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5D741-515C-4B16-A16D-582C5E19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749B2-3D76-400C-9954-70B9C256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Datasets and evidence spans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BB22A-79C4-4553-8A0A-33F9F6B5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DialogSum [L01] and QMSum [L02]: useful test material, with a domain mismatch.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074C6-9814-499C-995C-6292DE64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Dialogue factuality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91C76-EAC2-40AD-B503-FA95540B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DialSummEval [L03], FacEval [L04], SummaC [L05] and DIASUMFACT [L06].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9D38B-7555-4DE5-AC5B-EC066709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Evaluation and method selection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0EECF-149D-4B65-B121-443CCADA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GPTCalls [L07, preprint], dialogue consistency [L08], FineSurE [L09] and distillation [L10].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1405C-D8D4-4217-9A1A-6B7A8A79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Critical conclusion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8BA52-65B5-452F-AB97-FFC5157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Generic summary scores cannot establish factual reliability or business benefit.</a:t>
            </a:r>
          </a:p>
        </p:txBody>
      </p:sp>
    </p:spTree>
    <p:extLst>
      <p:ext uri="{BB962C8B-B14F-4D97-AF65-F5344CB8AC3E}">
        <p14:creationId xmlns:p14="http://schemas.microsoft.com/office/powerpoint/2010/main" val="12425543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08FC7-330C-40B5-834E-A874F2C4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DESIGN IMPLICATIONS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A2F70-EDB2-4D83-9755-2EF165BF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Source references support human checking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6C142-9D24-46CD-B23B-F5D3C958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0A35F-C216-4C04-8781-28727FE2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19 October 2026  /  Candidate for team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F3295-8F0A-459F-9E3F-63CCE801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24135-8CCF-4BC8-94C9-54008CED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Trace every extracted statement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238EF-2063-413C-8CB9-BA6855D3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Keep stable source-turn IDs and display the corresponding 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06F88-D684-492B-9C88-023659BA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Separate raw and reviewed 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7B0A2-4313-4E3C-81C5-3D1163A5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Record approval, rejection and edits without replacing the original run.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7FAEE-5ABA-4035-BCD6-9A3DCCF9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Compare under fixed conditions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BC4AFD-7BC4-42F7-8529-41DE46DE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Use the same held-out records and pinned method/configuration versions.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9057B-7189-4D1C-ACA2-6AEA8A16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Test a relevant alternative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FA000-880A-4F96-B082-EB1E164E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Compare manual review, an extractive baseline and a selected pretrained candidate.</a:t>
            </a:r>
          </a:p>
        </p:txBody>
      </p:sp>
    </p:spTree>
    <p:extLst>
      <p:ext uri="{BB962C8B-B14F-4D97-AF65-F5344CB8AC3E}">
        <p14:creationId xmlns:p14="http://schemas.microsoft.com/office/powerpoint/2010/main" val="13050529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955ED-4FA5-4815-8F33-B761B323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COMPARISON 1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EB478-9274-40E3-9558-70C1EB57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Existing systems already analyse interactions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C4581-175B-4635-B939-916C7C77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F0783-0CA2-4C12-9FD8-69112823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19 October 2026  /  Candidate for team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94A49-D0F7-463F-BA31-4B8B0FD7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B1E4E-9A9E-4A27-9405-47BFD0502BC2}"/>
              </a:ext>
            </a:extLst>
          </p:cNvPr>
          <p:cNvGraphicFramePr/>
          <p:nvPr/>
        </p:nvGraphicFramePr>
        <p:xfrm>
          <a:off xmlns:a="http://schemas.openxmlformats.org/drawingml/2006/main" x="762000" y="2571750"/>
          <a:ext xmlns:a="http://schemas.openxmlformats.org/drawingml/2006/main" cx="137160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828925"/>
                <a:gridCol w="2857500"/>
                <a:gridCol w="2819400"/>
                <a:gridCol w="2828925"/>
              </a:tblGrid>
              <a:tr h="8953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Criterion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HubSpot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Salesforce ECI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Zoho Zia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Dynamics 365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Recorded calls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Voice/video calls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Recorded calls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Call transcripts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Transcript review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Transcript + playback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Not verified¹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Highlights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Transcript review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Summary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Review summary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Generative summary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One-line summary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Summary + insights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Topics / terms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Tracked terms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Insights, config unknown¹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Keywords / phrases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Keywords / competitors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6752E-3CAD-4510-8C85-1F32BCBC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Official docs checked 19 Oct 2026 [S01–S06]. ¹ Narrow indexed excerpt only. No tenant testing.</a:t>
            </a:r>
          </a:p>
        </p:txBody>
      </p:sp>
    </p:spTree>
    <p:extLst>
      <p:ext uri="{BB962C8B-B14F-4D97-AF65-F5344CB8AC3E}">
        <p14:creationId xmlns:p14="http://schemas.microsoft.com/office/powerpoint/2010/main" val="13731470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FEA72-7DAE-4E64-8632-6C90A519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COMPARISON 2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DA447-56E0-4819-8B4B-2C50DD5D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Availability depends on product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D4917-3171-423A-BA90-1DEC5395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2FCD4-3223-4542-888E-D011FC14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19 October 2026  /  Candidate for team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BC52F-1F97-4668-BDF0-7C604792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A004F-5C15-4049-8BBE-247EB852646E}"/>
              </a:ext>
            </a:extLst>
          </p:cNvPr>
          <p:cNvGraphicFramePr/>
          <p:nvPr/>
        </p:nvGraphicFramePr>
        <p:xfrm>
          <a:off xmlns:a="http://schemas.openxmlformats.org/drawingml/2006/main" x="762000" y="2571750"/>
          <a:ext xmlns:a="http://schemas.openxmlformats.org/drawingml/2006/main" cx="137160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828925"/>
                <a:gridCol w="2857500"/>
                <a:gridCol w="2819400"/>
                <a:gridCol w="2828925"/>
              </a:tblGrid>
              <a:tr h="8953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Criterion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HubSpot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Salesforce ECI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Zoho Zia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Dynamics 365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Next steps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Not verified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Included in summary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Action list unverified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Language-dependent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Human review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Comments / coaching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Summary sharing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Transcript inspection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Call summary review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Entitlement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Eligible Pro/Enterprise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Exact licence unchecked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Pro+; JP excluded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Licence / roles / setup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Languages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Verify target language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Not verified¹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Local quality unproven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Feature-specific support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48A96-9A12-46CC-99A3-07F84BDA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No claim of market uniqueness. A configured commercial CRM remains a relevant alternative.</a:t>
            </a:r>
          </a:p>
        </p:txBody>
      </p:sp>
    </p:spTree>
    <p:extLst>
      <p:ext uri="{BB962C8B-B14F-4D97-AF65-F5344CB8AC3E}">
        <p14:creationId xmlns:p14="http://schemas.microsoft.com/office/powerpoint/2010/main" val="16181926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82AE2-9ECF-49AE-BF6B-8350E554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TECHNOLOGY ALTERNATIVES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9147D-E95E-4D9E-813B-552D5C74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Five technology decisions remain reviewable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284A2-647F-404C-ABC3-F1540BC8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8AC9B-849F-485D-980B-72B2F76C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19 October 2026  /  Candidate for team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C07A9-9653-4545-8AB3-D7FA808E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9FDAF-E51C-46FD-8245-AFE79DD217FB}"/>
              </a:ext>
            </a:extLst>
          </p:cNvPr>
          <p:cNvGraphicFramePr/>
          <p:nvPr/>
        </p:nvGraphicFramePr>
        <p:xfrm>
          <a:off xmlns:a="http://schemas.openxmlformats.org/drawingml/2006/main" x="762000" y="2571750"/>
          <a:ext xmlns:a="http://schemas.openxmlformats.org/drawingml/2006/main" cx="137160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429250"/>
                <a:gridCol w="5524500"/>
              </a:tblGrid>
              <a:tr h="825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Decision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Alternatives considered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Proposed choice / reason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Frontend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Vue / React / Angular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Vue 3 + TypeScript; reported experience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Backend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FastAPI / NestJS / Django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FastAPI; Python analysis integration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Storage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PostgreSQL / MongoDB / SQLite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PostgreSQL; relational records + jobs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Communication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REST + polling / GraphQL / broker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HTTP JSON + durable jobs; limited scope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Analysis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Extractive / pretrained / hosted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Extractive baseline, evaluate pinned candidate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4746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303AF-0491-4A51-8775-356242F1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FUNCTIONAL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F329B-03BE-494B-91F0-B9315FE3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Requirements have explicit acceptance criteria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447C5-8A76-4341-AB34-878EC122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250E9-CBAF-4893-84B0-D6225C5C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19 October 2026  /  Candidate for team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E8E28-327E-4025-AA74-CCC8F0DE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578A9-7FF2-4818-BAA2-D04FEECF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FR-01–FR-04: access, records and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E542E-D9A9-409E-8624-C5DCC475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Object permissions, customer records, interaction capture and search.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69BF7-2236-4A5C-89B0-88539EB8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FR-05–FR-08: analysis and human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BEC98-1EA5-4854-BD4F-368D0771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Durable jobs, source-linked results, review decisions and failure recovery.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69B1A-A86C-4F99-BAB2-645961DF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FR-09–FR-12: exports and evaluation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F28DF-CFD2-422C-AAEF-3AB15C6C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Accessible export and run comparison. Overview and extra adapters are lower priority.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BDF61-443C-4133-8E85-7977974C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Acceptance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43594-C86F-454F-90E4-CE2547FD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Opening a source reference highlights the exact turn without altering the original text.</a:t>
            </a:r>
          </a:p>
        </p:txBody>
      </p:sp>
    </p:spTree>
    <p:extLst>
      <p:ext uri="{BB962C8B-B14F-4D97-AF65-F5344CB8AC3E}">
        <p14:creationId xmlns:p14="http://schemas.microsoft.com/office/powerpoint/2010/main" val="7797066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C3B7E-B236-4F53-BBEC-4DAA2874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NONFUNCTIONAL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8B4F3-F844-48C2-AC18-C9CF87E8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Quality targets require controlled measurement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115DC-6A5F-4A29-8202-4B1622A0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B4BDF-F141-40DF-AED9-8C092574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19 October 2026  /  Candidate for team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49D74-AA40-43C5-91CE-D3973539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F5AE8-C7CB-42CA-9B32-79C14F47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Reliability and reproducibility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D7F7E-7F20-4312-AFF5-C351A8FA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Record source hash, method/configuration versions and raw output. Use bounded retries.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370C2-CF3A-4FD9-8327-F1EA3B58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Performance protocol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00B68-7D66-49D8-ACB4-A74C7E44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Measure p50/p95 under declared hardware, input size and concurrency.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CA3B1-774E-4F7E-BB2E-5198A0BC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Privacy and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2A01E2-C810-4156-B7CA-E352A54B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Keep real customer data outside Git. Verify role and object permissions in the backend.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EFF58-D31B-4E59-9B6D-A460235B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Usability and portability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BEC15-4A34-4311-9C61-DC06B8A0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Keyboard operation, narrow-screen layout, clear error states and a documented local setup.</a:t>
            </a:r>
          </a:p>
        </p:txBody>
      </p:sp>
    </p:spTree>
    <p:extLst>
      <p:ext uri="{BB962C8B-B14F-4D97-AF65-F5344CB8AC3E}">
        <p14:creationId xmlns:p14="http://schemas.microsoft.com/office/powerpoint/2010/main" val="4603194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0D069C-77C5-4F85-9D2B-48BE6C7BA1B2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67875" y="4619625"/>
            <a:ext cx="1857375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dash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8D4467-B058-490E-9DB6-285EEC0315D9}"/>
              </a:ext>
            </a:extLst>
          </p:cNvPr>
          <p:cNvCxnSpPr>
            <a:stCxn xmlns:a="http://schemas.openxmlformats.org/drawingml/2006/main" id="12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9667875" y="3333750"/>
            <a:ext cx="1857375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soli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39AB24-7357-426D-83EC-D6E3D136260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4000500" y="4619625"/>
            <a:ext cx="1952625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3A221-F545-4724-AAB6-FE052102070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000500" y="3429000"/>
            <a:ext cx="1952625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D2898B-355A-4EF3-B78D-480A6950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EDITABLE CONTEXT DIAGRAM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07D4C-162A-48E8-9418-9E530819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System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57C3A-F8CC-44CA-92FE-66CEF54C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4C062-F56E-4466-B543-B9FFB21E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19 October 2026  /  Candidate for team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D5510-9C2F-46B6-84E6-E63FB9C0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403BA-E53C-4140-BD71-5807F377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323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77573-D779-44FB-B4ED-0B07C59F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527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Analyst / manager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56AFB-ABAA-42DF-AEF5-F9A8C678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323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71589-57FC-4E0B-8453-FD714D1D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864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Administrator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9D07C-451A-4AB3-AE87-49AA49A9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10000"/>
            <a:ext cx="3714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F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60F25-E030-4502-A8AD-01484542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1002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Intelligent CRM</a:t>
            </a:r>
          </a:p>
          <a:p xmlns:a="http://schemas.openxmlformats.org/drawingml/2006/main">
            <a:pPr>
              <a:buNone/>
              <a:defRPr sz="24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48ECD-5F7C-4C56-83D9-11AAD06F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857500"/>
            <a:ext cx="295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A57C1-DDB2-45B5-ACD7-8A804746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057525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Text input / import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C94DD-8F4F-4AB0-B58A-D2F829B9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38162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FFCF96-D08D-4348-A65B-DE9EB085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5816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Optional analysis</a:t>
            </a:r>
          </a:p>
          <a:p xmlns:a="http://schemas.openxmlformats.org/drawingml/2006/main">
            <a:pPr>
              <a:buNone/>
              <a:defRPr sz="187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provider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6119E-2B7A-4FD8-9524-F61AF9C3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432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Review and analyse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20B91E-E0A0-4DFD-9BD7-3B1E81FD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28650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Manage 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07EEEB-416A-436C-9867-CE92615D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019425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Validated 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706FB9-48DA-4F68-86C3-2479FD9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0483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Optional inference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47E1E4-354C-4C5E-BC8A-CC3903CE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One organisation. Text-only MVP. All fixtures currently synthetic.</a:t>
            </a:r>
          </a:p>
        </p:txBody>
      </p:sp>
    </p:spTree>
    <p:extLst>
      <p:ext uri="{BB962C8B-B14F-4D97-AF65-F5344CB8AC3E}">
        <p14:creationId xmlns:p14="http://schemas.microsoft.com/office/powerpoint/2010/main" val="11824639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353822-0FC0-4344-967F-F80307A4672A}"/>
              </a:ext>
            </a:extLst>
          </p:cNvPr>
          <p:cNvCxnSpPr>
            <a:stCxn xmlns:a="http://schemas.openxmlformats.org/drawingml/2006/main" id="18" idx="6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8096250" y="6596063"/>
            <a:ext cx="1047750" cy="23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dash"/>
            <a:tailEnd type="arrow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76CD80-F0A0-4148-8EB8-269B11AF66B9}"/>
              </a:ext>
            </a:extLst>
          </p:cNvPr>
          <p:cNvCxnSpPr>
            <a:stCxn xmlns:a="http://schemas.openxmlformats.org/drawingml/2006/main" id="16" idx="6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V="1">
            <a:off x="8096250" y="5167313"/>
            <a:ext cx="1047750" cy="23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dash"/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C3D1FC-44B3-43FF-99BA-885E6B9A930B}"/>
              </a:ext>
            </a:extLst>
          </p:cNvPr>
          <p:cNvCxnSpPr>
            <a:stCxn xmlns:a="http://schemas.openxmlformats.org/drawingml/2006/main" id="12" idx="1"/>
            <a:endCxn xmlns:a="http://schemas.openxmlformats.org/drawingml/2006/main" id="24" idx="6"/>
          </p:cNvCxnSpPr>
          <p:nvPr/>
        </p:nvCxnSpPr>
        <p:spPr>
          <a:xfrm xmlns:a="http://schemas.openxmlformats.org/drawingml/2006/main" flipH="1" flipV="1">
            <a:off x="12096750" y="3738563"/>
            <a:ext cx="952500" cy="7381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solid"/>
            <a:tailEnd type="none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5333B6-1E86-4896-B290-1D7BA63D43FE}"/>
              </a:ext>
            </a:extLst>
          </p:cNvPr>
          <p:cNvCxnSpPr>
            <a:stCxn xmlns:a="http://schemas.openxmlformats.org/drawingml/2006/main" id="10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1952625" y="4857750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solid"/>
            <a:tailEnd type="none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5BCE5A-1AE6-47D5-A026-445BEF6FB05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3143250" y="4381500"/>
            <a:ext cx="1619250" cy="2238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solid"/>
            <a:tailEnd type="non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307EDD-726B-4411-99DF-FF9D73D7B525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3143250" y="4381500"/>
            <a:ext cx="161925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solid"/>
            <a:tailEnd type="non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465AA8-CE25-4E6D-A464-7B058D602A09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3143250" y="3762375"/>
            <a:ext cx="161925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solid"/>
            <a:tailEnd type="none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CB51E7-A48C-40DF-AB0D-8339F753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EDITABLE UML USE-CASE DIAGRAM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294EE-FC56-45F1-AF5D-A1E93F4E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Use cases connect roles to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42B9B-E01D-4AC9-A00B-E35ACF96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D36CE-43C1-4C25-821F-C960C9F3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19 October 2026  /  Candidate for team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AADFA-410A-4611-9AB2-F5E9AE81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8C769-947E-42EE-89FA-9EB8A1B0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24125"/>
            <a:ext cx="847725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D3E58-81FA-4CDA-812B-80FCECF4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2627A"/>
                </a:solidFill>
                <a:latin typeface="Arial"/>
                <a:ea typeface="Arial"/>
                <a:cs typeface="Arial"/>
              </a:rPr>
              <a:t>CRM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03791-FD3E-4E22-AD6D-32174700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2A3A2-71E2-455A-94DB-1087D32A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«actor»</a:t>
            </a:r>
          </a:p>
          <a:p xmlns:a="http://schemas.openxmlformats.org/drawingml/2006/main">
            <a: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Analyst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DE95F-EF44-4E48-87DD-AA799967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73424-A07E-4609-ACE0-87DD4C84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4840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«actor»</a:t>
            </a:r>
          </a:p>
          <a:p xmlns:a="http://schemas.openxmlformats.org/drawingml/2006/main">
            <a: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Manager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C7BFE4-9915-4F52-97F2-0FC5893A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4000500"/>
            <a:ext cx="171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35492-1C48-4A98-82F2-ABC1C026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200525"/>
            <a:ext cx="133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«actor»</a:t>
            </a:r>
          </a:p>
          <a:p xmlns:a="http://schemas.openxmlformats.org/drawingml/2006/main">
            <a: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DA311-5A50-4622-9B97-BDA2B207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33337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F0EEA-B2E5-4CC1-BF08-9EF31656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3377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Manage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EEDB82-48A1-4DD2-B7CE-00BF2995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33337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5023F-0414-46C6-9FC8-F6094252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625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Analyse 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774D6C-B41B-4CC7-A77B-BE3B5CEA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91250"/>
            <a:ext cx="33337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5EBF64-BB47-43FD-8B97-B69BA16C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9127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Review / approve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FB11BD-168D-4BB0-AE7B-BC2D3335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62500"/>
            <a:ext cx="2952750" cy="809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515AD0-20AC-45AE-B336-42938E5A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6252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Validate input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4DFAB8-DD21-4F62-B825-8CF0F002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191250"/>
            <a:ext cx="2952750" cy="809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E27BF4-B667-4F39-A4F7-3C765E90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912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Inspect 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3C5315-7CEE-4E57-867C-C94DC37D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0"/>
            <a:ext cx="2952750" cy="809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A3857A-09B5-48CC-A415-905EB25E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337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Manage access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BA8DBD-B49F-49B8-8840-96730309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387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generalises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9B8430-61F9-4B3C-AB1E-7F93B911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85775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AB386E-1AA7-42EA-9BC4-CBF657BE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37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«include»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07FADD-E7BC-47E0-ACD3-14528A5C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531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«include»</a:t>
            </a:r>
          </a:p>
        </p:txBody>
      </p:sp>
    </p:spTree>
    <p:extLst>
      <p:ext uri="{BB962C8B-B14F-4D97-AF65-F5344CB8AC3E}">
        <p14:creationId xmlns:p14="http://schemas.microsoft.com/office/powerpoint/2010/main" val="12299620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2EEA82-E206-44CB-A2AB-74EE10660F0F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144000" y="6596063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C45884-23A5-4AAD-A16C-296C74B88250}"/>
              </a:ext>
            </a:extLst>
          </p:cNvPr>
          <p:cNvCxnSpPr>
            <a:stCxn xmlns:a="http://schemas.openxmlformats.org/drawingml/2006/main" id="12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7096125" y="4476750"/>
            <a:ext cx="5667375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soli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6A1A10-2DFB-47AE-A9A1-06766C8F3E7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144000" y="3738563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B5EEE6-2080-4D1D-859B-95AF656E056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714750" y="3738563"/>
            <a:ext cx="133350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A"/>
            </a:solidFill>
            <a:prstDash val="solid"/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68BB6C-968A-44A3-BFB8-71CBFFE5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EDITABLE DRAFT COMPONENT DIAGRAM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6C696-549B-47FE-A169-0D32834D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 modular API and worker share durable storage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55CE4-967A-4F44-96FE-D2F9D6F5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0F90B-7C87-43D6-9A47-4C1BC04C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19 October 2026  /  Candidate for team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14FB7-F7C0-47B1-8040-CB81B897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39962-67E4-4A77-BA90-73EF705A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2952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62656-6A54-4C35-BD63-D02D35DB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Vue web 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BD482-87E9-402A-BADE-DFFE7DC2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0375"/>
            <a:ext cx="4095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41A3E-125E-4C27-BF3E-07CD2240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00400"/>
            <a:ext cx="3714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Auth / records / jobs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9A3AE-891B-41F9-9869-8FD9AA9D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00375"/>
            <a:ext cx="3429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67895-638F-459A-B1F2-5A591A09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00400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>
              <a:buNone/>
              <a:defRPr sz="21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Records / jobs / 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07379-149B-4A42-8DB5-0B7C28F5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953125"/>
            <a:ext cx="4095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C491DE-1375-4ABF-B21C-822141CE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153150"/>
            <a:ext cx="371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Analysis worker</a:t>
            </a:r>
          </a:p>
          <a:p xmlns:a="http://schemas.openxmlformats.org/drawingml/2006/main">
            <a: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Leases / bounded retries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6A486-D507-4759-A9E4-E2C9B20C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53125"/>
            <a:ext cx="3429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54A76-FF1C-49A3-BC8B-D4E0D35E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53150"/>
            <a:ext cx="304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Analysis adapter</a:t>
            </a:r>
          </a:p>
          <a:p xmlns:a="http://schemas.openxmlformats.org/drawingml/2006/main">
            <a:pPr>
              <a:buNone/>
              <a:defRPr sz="19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Baseline / candidate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D64BA7-15C4-47F8-AC50-A4491347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956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HTTP 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EFC51-D05A-487C-937C-20E08A16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Read / write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47AD6B-3656-4762-906D-B5E562B5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34125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Versioned run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494C4E-893B-4E9D-9223-03A087DE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247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Proposed architecture. The current browser prototype has no backend or production authentication.</a:t>
            </a:r>
          </a:p>
        </p:txBody>
      </p:sp>
    </p:spTree>
    <p:extLst>
      <p:ext uri="{BB962C8B-B14F-4D97-AF65-F5344CB8AC3E}">
        <p14:creationId xmlns:p14="http://schemas.microsoft.com/office/powerpoint/2010/main" val="13412524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16F03-B393-4F90-AFFB-78D83904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WORKING UX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C61A3-6F22-4B22-AED3-80D2058B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The prototype demonstrates the review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39D9D-50F5-4874-ACE3-41D6F488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4FAEB-2B5A-4C1C-97CF-1B442C9F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19 October 2026  /  Candidate for team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A2C1C-CFD8-4C8D-9F8F-8AC390C4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C0703-DA72-4A9B-BC49-99E368D9AF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95b20b0bd466a"/>
          <a:stretch xmlns:a="http://schemas.openxmlformats.org/drawingml/2006/main"/>
        </p:blipFill>
        <p:spPr>
          <a:xfrm xmlns:a="http://schemas.openxmlformats.org/drawingml/2006/main">
            <a:off x="2516247" y="2428875"/>
            <a:ext cx="6302256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467ED-1FF5-4757-86E8-346E422E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714625"/>
            <a:ext cx="3524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1  Select a record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2  Run baseline analysis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3  Inspect source turns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4  Edit and approve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5  Export the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A0B87-70CC-49D0-8C66-1F886445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953250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Synthetic fixtures. Local browser storage. Plain JavaScript UX prototype.</a:t>
            </a:r>
          </a:p>
        </p:txBody>
      </p:sp>
    </p:spTree>
    <p:extLst>
      <p:ext uri="{BB962C8B-B14F-4D97-AF65-F5344CB8AC3E}">
        <p14:creationId xmlns:p14="http://schemas.microsoft.com/office/powerpoint/2010/main" val="12319994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F58183-C379-4A99-A975-DD3C114C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VERIFICATION AND EXPERIMENT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BD5F0-B38D-4EB1-A366-20F3E37A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Evaluation compares quality and task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0286F4-88BE-4C09-BC28-BBF6E557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BE981-C6A5-4E9F-A83C-8134C57D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19 October 2026  /  Candidate for team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73E12-EDE6-44F4-BFE4-C0CBE871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69E25-48EE-426D-9D42-32510D83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EBF19-A980-4A26-8277-13C05855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B0 manual review, B1 extractive baseline, C1 pinned pretrained candidate.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9FDBD-FDA9-42D0-B793-68303892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Planned dataset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65266-AC69-4F72-BACC-A112A72B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20 development + 100 held-out records, subject to lawful data availability.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69C98-4E01-4433-81E0-113D07C7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Proposed quality targets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3C5C0-F4B2-4B71-B068-3C7BD6A2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Topic macro-F1 ≥ 0.75, supported claims ≥ 0.95, key-fact coverage ≥ 0.80.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9EF13-B2DE-417A-8590-F1328B18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Proposed workflow 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160A8-E777-4ECA-9050-31E9B666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Median review time improves ≥ 20% with no error increase. Report uncertainty and actual n.</a:t>
            </a:r>
          </a:p>
        </p:txBody>
      </p:sp>
    </p:spTree>
    <p:extLst>
      <p:ext uri="{BB962C8B-B14F-4D97-AF65-F5344CB8AC3E}">
        <p14:creationId xmlns:p14="http://schemas.microsoft.com/office/powerpoint/2010/main" val="8675866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C57BE-63F3-475E-84A4-92AF1449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MILESTONES TO 24 OCTOBER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D0DF8-84F9-4D4D-9064-A345D429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Checkpoint plan and current tracker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2E507-370A-4269-BF17-6A311B86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655A1-5995-4246-9B36-4C2B1142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19 October 2026  /  Candidate for team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5D2E7-0E04-45A4-8D9C-CD5539D1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520D1-7F19-447C-9B7A-B83486CA93D8}"/>
              </a:ext>
            </a:extLst>
          </p:cNvPr>
          <p:cNvGraphicFramePr/>
          <p:nvPr/>
        </p:nvGraphicFramePr>
        <p:xfrm>
          <a:off xmlns:a="http://schemas.openxmlformats.org/drawingml/2006/main" x="762000" y="2571750"/>
          <a:ext xmlns:a="http://schemas.openxmlformats.org/drawingml/2006/main" cx="1371600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8763000"/>
                <a:gridCol w="2857500"/>
              </a:tblGrid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Date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Expected outcome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Lead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T w="9525">
                      <a:solidFill>
                        <a:srgbClr val="DCE2EC"/>
                      </a:solidFill>
                    </a:lnT>
                    <a:lnB w="9525">
                      <a:solidFill>
                        <a:srgbClr val="DCE2EC"/>
                      </a:solidFill>
                    </a:lnB>
                    <a:solidFill>
                      <a:srgbClr val="E8ECF5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19 Oct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Candidate package and prototype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All three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20 Oct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Discovery / scope open; tracker created 23 Oct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Beybit + Danial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21–22 Oct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Source, requirements, UML and protocol review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All three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23 Oct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Supervisor review and rehearsal: still open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Beybit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24 Oct</a:t>
                      </a:r>
                    </a:p>
                  </a:txBody>
                  <a:tcPr marL="142875" marR="142875" marT="123825" marB="123825">
                    <a:lnL w="9525">
                      <a:solidFill>
                        <a:srgbClr val="DCE2EC"/>
                      </a:solidFill>
                    </a:lnL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Evidence audit, access and submission tag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63F"/>
                          </a:solidFill>
                          <a:latin typeface="Arial"/>
                          <a:ea typeface="Arial"/>
                          <a:cs typeface="Arial"/>
                        </a:rPr>
                        <a:t>Danial</a:t>
                      </a:r>
                    </a:p>
                  </a:txBody>
                  <a:tcPr marL="142875" marR="142875" marT="123825" marB="123825">
                    <a:lnR w="9525">
                      <a:solidFill>
                        <a:srgbClr val="DCE2EC"/>
                      </a:solidFill>
                    </a:lnR>
                    <a:lnB w="9525">
                      <a:solidFill>
                        <a:srgbClr val="DCE2EC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0588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9DA59-7AA6-4E21-BF43-2422AB04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RISKS AND MITIGATIONS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1DA03-26D3-4962-A1E1-6C448919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Risks can change scope or invalidate claims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0BEA9-4BD6-427A-B947-258FEC4B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D6BCF-FC8A-458C-A887-DFB6FBCE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19 October 2026  /  Candidate for team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D3A5B-357A-47FC-94FF-E6B466E1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79AE6-5935-4673-B0C7-831E24A8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No validated user need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EFD25-3EFB-4D4B-90D9-214EABD3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Recruit users now. If evidence is missing, disclose it and limit the claim.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7301B-4CB1-4486-9715-31DAD3DE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Factual mistakes or unsuitable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859BF-A6DF-42B7-A6AD-B1E9B091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Use source inspection, independent annotation and a held-out comparison.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D5F3B-0B4D-4D13-A1E8-6421EDCD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Scope and integration delays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52207-B2FA-4135-A4F3-0AFFFE65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Keep a text-only MVP. Review the API contract and deliver one end-to-end slice.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30809-2472-4882-8951-D3357BF9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Untraceable contribution or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A4067-17BF-44C0-90A7-D99A6BAD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Each student makes real changes and peer reviews from their own account.</a:t>
            </a:r>
          </a:p>
        </p:txBody>
      </p:sp>
    </p:spTree>
    <p:extLst>
      <p:ext uri="{BB962C8B-B14F-4D97-AF65-F5344CB8AC3E}">
        <p14:creationId xmlns:p14="http://schemas.microsoft.com/office/powerpoint/2010/main" val="4853593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477FA3-6B53-45CA-9566-2CD605D8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CHECKPOINT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906DB-587A-4FB5-AC3F-C6DB0CF4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Prepared artefacts and remaining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39880-4098-4F02-8FD4-16B1E2EC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BBA04-5D57-42F2-837E-505FED1F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19 October 2026  /  Candidate for team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65CD5-B94D-49BE-9DE2-1632AD0C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BF49F-3FE8-4557-8FD4-5AC61706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Prepared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F2A55-79AE-45FB-A68B-2E0A3984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Proposal, critical review, comparisons, requirements, diagrams, UX and evaluation plan.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A5559-5A84-40A8-A875-A66A30A7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Executable 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10E6A-57F7-408D-A54D-6D490C03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Extractive prototype and checks. YouTrack: CRM-1–CRM-14 assigned.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8FFA3-6489-478D-9847-ED8E2B8E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Still open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E0E28F-EBC1-4EAE-B853-A1679517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User/client evidence, supervisor comments and genuine student contributions / peer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7ED2D6-21B9-4132-B704-3B99EB5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Submission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6DE33-AAD6-4EAB-BD5F-48CC6DD7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Select the reviewed version, check access and create the final pre-defense-1 tag.</a:t>
            </a:r>
          </a:p>
        </p:txBody>
      </p:sp>
    </p:spTree>
    <p:extLst>
      <p:ext uri="{BB962C8B-B14F-4D97-AF65-F5344CB8AC3E}">
        <p14:creationId xmlns:p14="http://schemas.microsoft.com/office/powerpoint/2010/main" val="132486218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7F247B-896F-46A3-B8CE-37AFB32A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SOURCE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B839B-D27F-4C99-8D37-AFAB6E82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63F"/>
                </a:solidFill>
                <a:latin typeface="Arial"/>
                <a:ea typeface="Arial"/>
                <a:cs typeface="Arial"/>
              </a:rPr>
              <a:t>Scientific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CE052-D00D-4D51-B607-6D7D0162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C"/>
          </a:solidFill>
          <a:ln xmlns:a="http://schemas.openxmlformats.org/drawingml/2006/main" w="9525">
            <a:solidFill>
              <a:srgbClr val="DC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2814A-771A-4A05-8C25-1EDC79C2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SE-2426  /  19 October 2026  /  Candidate for team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17502-A1B5-4957-8810-FAC276FE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58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40F97-BCD9-41DD-9F02-BAE8AB75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63F"/>
                </a:solidFill>
                <a:latin typeface="Arial"/>
                <a:ea typeface="Arial"/>
                <a:cs typeface="Arial"/>
              </a:rPr>
              <a:t>L01 Chen et al. (2021). DialogSum. Findings of ACL.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BACDB-7D61-4F18-AC49-10E1BE3E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63F"/>
                </a:solidFill>
                <a:latin typeface="Arial"/>
                <a:ea typeface="Arial"/>
                <a:cs typeface="Arial"/>
              </a:rPr>
              <a:t>L06 Zhu et al. (2023). Fine-Grained Factual Errors. ACL.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989A7-634F-4C1E-804C-8296FA56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63F"/>
                </a:solidFill>
                <a:latin typeface="Arial"/>
                <a:ea typeface="Arial"/>
                <a:cs typeface="Arial"/>
              </a:rPr>
              <a:t>L02 Zhong et al. (2021). QMSum. NAACL.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39DD2-894A-4517-A14E-B79577F6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480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63F"/>
                </a:solidFill>
                <a:latin typeface="Arial"/>
                <a:ea typeface="Arial"/>
                <a:cs typeface="Arial"/>
              </a:rPr>
              <a:t>L07 Malkiel et al. (2023). GPTCalls. arXiv preprint.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29DF9-597D-43A0-BBA6-A0B70A32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63F"/>
                </a:solidFill>
                <a:latin typeface="Arial"/>
                <a:ea typeface="Arial"/>
                <a:cs typeface="Arial"/>
              </a:rPr>
              <a:t>L03 Gao &amp; Wan (2022). DialSummEval. NAACL.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7768B-DCC0-432D-B990-4DA6FD9C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767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63F"/>
                </a:solidFill>
                <a:latin typeface="Arial"/>
                <a:ea typeface="Arial"/>
                <a:cs typeface="Arial"/>
              </a:rPr>
              <a:t>L08 She et al. (2024). Dialogue consistency. NAACL.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67825-565B-45FD-B757-D3EA438E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63F"/>
                </a:solidFill>
                <a:latin typeface="Arial"/>
                <a:ea typeface="Arial"/>
                <a:cs typeface="Arial"/>
              </a:rPr>
              <a:t>L04 Wang et al. (2022). Faithfulness. EMNLP.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EB43E-27A5-4363-83E2-04F9C797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054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63F"/>
                </a:solidFill>
                <a:latin typeface="Arial"/>
                <a:ea typeface="Arial"/>
                <a:cs typeface="Arial"/>
              </a:rPr>
              <a:t>L09 Song et al. (2024). FineSurE. ACL.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218E2-5536-4AEC-B96C-9CC7C0B8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3407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63F"/>
                </a:solidFill>
                <a:latin typeface="Arial"/>
                <a:ea typeface="Arial"/>
                <a:cs typeface="Arial"/>
              </a:rPr>
              <a:t>L05 Laban et al. (2022). SummaC. TACL.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2CA21-46DF-4797-AD58-BFDB5DF1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3407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26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63F"/>
                </a:solidFill>
                <a:latin typeface="Arial"/>
                <a:ea typeface="Arial"/>
                <a:cs typeface="Arial"/>
              </a:rPr>
              <a:t>L10 Zhu et al. (2025). Factual dialogue distillation. COLING.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D3025-06D9-4103-90F6-A1B5A13A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Full links in speaker notes and docs/12_sources.md. Scientific evidence: 9 peer-reviewed papers + 1 preprint.</a:t>
            </a:r>
          </a:p>
        </p:txBody>
      </p:sp>
    </p:spTree>
    <p:extLst>
      <p:ext uri="{BB962C8B-B14F-4D97-AF65-F5344CB8AC3E}">
        <p14:creationId xmlns:p14="http://schemas.microsoft.com/office/powerpoint/2010/main" val="1728398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2026-10-23T12:27:14.1770000Z</dcterms:created>
  <dcterms:modified xsi:type="dcterms:W3CDTF">2026-10-23T12:27:14.1770000Z</dcterms:modified>
</coreProperties>
</file>